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1.png" ContentType="image/png"/>
  <Override PartName="/ppt/media/image2.png" ContentType="image/png"/>
  <Override PartName="/ppt/media/image5.png" ContentType="image/png"/>
  <Override PartName="/ppt/media/image14.png" ContentType="image/png"/>
  <Override PartName="/ppt/media/image6.png" ContentType="image/png"/>
  <Override PartName="/ppt/media/image15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6.png" ContentType="image/png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4AF26F3-9CF1-4CA4-A773-9EC4F5EE5C1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7EC00D2-6E1B-4962-8436-E7BFC92F499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9943729-F3CA-4BF5-90B8-0775F70926D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7810A2F-C588-4A2A-8E36-FB5243ED5E2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176CB4B-2F84-410F-9CEF-7B45AD71B2F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3BAB3A3-B41B-49E3-9823-2DD5EC481F3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CEF922B-15A9-4ECF-B156-E3313F873E1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C1FF0C7-6718-47C8-BA4F-29ABCA360FF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864872-FFE0-40F4-B87E-E86C60A902E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327B756-F7DC-4E42-89E8-374B65D6041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CA2613A-8BBE-47E9-81B5-2CD6EAB5DE4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2A976DD-592E-4BF9-86E1-F15383FAE62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576354C-F533-428F-AED9-07EDC95CDD3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7FBC9FA-A6A3-4C11-8B7E-ED61EA3E869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D7F30CE-0870-430A-BC19-9B40BF0A543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9A1113F-BF85-4BC9-954A-C902000A80F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CB5C76F-DB24-492C-8EC7-2C9B29176C1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github.com/GutzRogue/alomrane-bi" TargetMode="External"/><Relationship Id="rId6" Type="http://schemas.openxmlformats.org/officeDocument/2006/relationships/hyperlink" Target="https://github.com/GutzRogue/alomrane-bi" TargetMode="External"/><Relationship Id="rId7" Type="http://schemas.openxmlformats.org/officeDocument/2006/relationships/image" Target="../media/image5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6.png"/><Relationship Id="rId11" Type="http://schemas.openxmlformats.org/officeDocument/2006/relationships/image" Target="../media/image7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1.png"/><Relationship Id="rId7" Type="http://schemas.openxmlformats.org/officeDocument/2006/relationships/image" Target="../media/image3.png"/><Relationship Id="rId8" Type="http://schemas.openxmlformats.org/officeDocument/2006/relationships/image" Target="../media/image11.png"/><Relationship Id="rId9" Type="http://schemas.openxmlformats.org/officeDocument/2006/relationships/image" Target="../media/image13.png"/><Relationship Id="rId10" Type="http://schemas.openxmlformats.org/officeDocument/2006/relationships/image" Target="../media/image11.png"/><Relationship Id="rId11" Type="http://schemas.openxmlformats.org/officeDocument/2006/relationships/image" Target="../media/image14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2.png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2.png"/><Relationship Id="rId3" Type="http://schemas.openxmlformats.org/officeDocument/2006/relationships/image" Target="../media/image12.png"/><Relationship Id="rId4" Type="http://schemas.openxmlformats.org/officeDocument/2006/relationships/image" Target="../media/image12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1.png"/><Relationship Id="rId3" Type="http://schemas.openxmlformats.org/officeDocument/2006/relationships/image" Target="../media/image11.png"/><Relationship Id="rId4" Type="http://schemas.openxmlformats.org/officeDocument/2006/relationships/image" Target="../media/image11.png"/><Relationship Id="rId5" Type="http://schemas.openxmlformats.org/officeDocument/2006/relationships/image" Target="../media/image1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1.png"/><Relationship Id="rId3" Type="http://schemas.openxmlformats.org/officeDocument/2006/relationships/image" Target="../media/image11.png"/><Relationship Id="rId4" Type="http://schemas.openxmlformats.org/officeDocument/2006/relationships/image" Target="../media/image11.png"/><Relationship Id="rId5" Type="http://schemas.openxmlformats.org/officeDocument/2006/relationships/image" Target="../media/image1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1.png"/><Relationship Id="rId3" Type="http://schemas.openxmlformats.org/officeDocument/2006/relationships/image" Target="../media/image21.png"/><Relationship Id="rId4" Type="http://schemas.openxmlformats.org/officeDocument/2006/relationships/image" Target="../media/image21.png"/><Relationship Id="rId5" Type="http://schemas.openxmlformats.org/officeDocument/2006/relationships/image" Target="../media/image21.png"/><Relationship Id="rId6" Type="http://schemas.openxmlformats.org/officeDocument/2006/relationships/image" Target="../media/image2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3.png"/><Relationship Id="rId3" Type="http://schemas.openxmlformats.org/officeDocument/2006/relationships/image" Target="../media/image4.png"/><Relationship Id="rId4" Type="http://schemas.openxmlformats.org/officeDocument/2006/relationships/hyperlink" Target="https://github.com/GutzRogue/alomrane-bi" TargetMode="External"/><Relationship Id="rId5" Type="http://schemas.openxmlformats.org/officeDocument/2006/relationships/hyperlink" Target="https://github.com/GutzRogue/alomrane-bi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8778240" y="-2011680"/>
            <a:ext cx="5942880" cy="5942880"/>
          </a:xfrm>
          <a:prstGeom prst="ellipse">
            <a:avLst/>
          </a:prstGeom>
          <a:solidFill>
            <a:srgbClr val="065a82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-2011680" y="4206240"/>
            <a:ext cx="5028480" cy="5028480"/>
          </a:xfrm>
          <a:prstGeom prst="ellipse">
            <a:avLst/>
          </a:prstGeom>
          <a:solidFill>
            <a:srgbClr val="1c7293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822960" y="141732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296" strike="noStrike">
                <a:solidFill>
                  <a:srgbClr val="9fd8e8"/>
                </a:solidFill>
                <a:latin typeface="Calibri"/>
                <a:ea typeface="Calibri"/>
              </a:rPr>
              <a:t>PROJET BUSINESS INTELLIGENCE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822960" y="1783080"/>
            <a:ext cx="1051488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800" spc="-1" strike="noStrike">
                <a:solidFill>
                  <a:srgbClr val="ffffff"/>
                </a:solidFill>
                <a:latin typeface="Cambria"/>
                <a:ea typeface="Cambria"/>
              </a:rPr>
              <a:t>AL OMRANE</a:t>
            </a:r>
            <a:endParaRPr b="0" lang="en-US" sz="5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822960" y="2788920"/>
            <a:ext cx="9600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900" spc="-1" strike="noStrike">
                <a:solidFill>
                  <a:srgbClr val="cadcfc"/>
                </a:solidFill>
                <a:latin typeface="Calibri"/>
                <a:ea typeface="Calibri"/>
              </a:rPr>
              <a:t>De la donnée opérationnelle au tableau de bord décisionnel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822960" y="3520440"/>
            <a:ext cx="360" cy="1371600"/>
          </a:xfrm>
          <a:prstGeom prst="line">
            <a:avLst/>
          </a:prstGeom>
          <a:ln w="19050">
            <a:solidFill>
              <a:srgbClr val="3d5a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" name="Image 0" descr="preencoded.png"/>
          <p:cNvPicPr/>
          <p:nvPr/>
        </p:nvPicPr>
        <p:blipFill>
          <a:blip r:embed="rId1"/>
          <a:stretch/>
        </p:blipFill>
        <p:spPr>
          <a:xfrm>
            <a:off x="822960" y="3566160"/>
            <a:ext cx="291960" cy="291960"/>
          </a:xfrm>
          <a:prstGeom prst="rect">
            <a:avLst/>
          </a:prstGeom>
          <a:ln w="0">
            <a:noFill/>
          </a:ln>
        </p:spPr>
      </p:pic>
      <p:sp>
        <p:nvSpPr>
          <p:cNvPr id="15" name="Text 6"/>
          <p:cNvSpPr/>
          <p:nvPr/>
        </p:nvSpPr>
        <p:spPr>
          <a:xfrm>
            <a:off x="1280160" y="3502080"/>
            <a:ext cx="4571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9fd8e8"/>
                </a:solidFill>
                <a:latin typeface="Calibri"/>
                <a:ea typeface="Calibri"/>
              </a:rPr>
              <a:t>Étudiant :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Zakaria Bayad &amp; El Bachir Boucba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" name="Image 1" descr="preencoded.png"/>
          <p:cNvPicPr/>
          <p:nvPr/>
        </p:nvPicPr>
        <p:blipFill>
          <a:blip r:embed="rId2"/>
          <a:stretch/>
        </p:blipFill>
        <p:spPr>
          <a:xfrm>
            <a:off x="822960" y="4005000"/>
            <a:ext cx="291960" cy="291960"/>
          </a:xfrm>
          <a:prstGeom prst="rect">
            <a:avLst/>
          </a:prstGeom>
          <a:ln w="0">
            <a:noFill/>
          </a:ln>
        </p:spPr>
      </p:pic>
      <p:sp>
        <p:nvSpPr>
          <p:cNvPr id="17" name="Text 7"/>
          <p:cNvSpPr/>
          <p:nvPr/>
        </p:nvSpPr>
        <p:spPr>
          <a:xfrm>
            <a:off x="1280160" y="3940920"/>
            <a:ext cx="4571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9fd8e8"/>
                </a:solidFill>
                <a:latin typeface="Calibri"/>
                <a:ea typeface="Calibri"/>
              </a:rPr>
              <a:t>Encadrant :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Mr El Haryqy Nordine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" name="Image 2" descr="preencoded.png"/>
          <p:cNvPicPr/>
          <p:nvPr/>
        </p:nvPicPr>
        <p:blipFill>
          <a:blip r:embed="rId3"/>
          <a:stretch/>
        </p:blipFill>
        <p:spPr>
          <a:xfrm>
            <a:off x="822960" y="4443840"/>
            <a:ext cx="291960" cy="291960"/>
          </a:xfrm>
          <a:prstGeom prst="rect">
            <a:avLst/>
          </a:prstGeom>
          <a:ln w="0">
            <a:noFill/>
          </a:ln>
        </p:spPr>
      </p:pic>
      <p:sp>
        <p:nvSpPr>
          <p:cNvPr id="19" name="Text 8"/>
          <p:cNvSpPr/>
          <p:nvPr/>
        </p:nvSpPr>
        <p:spPr>
          <a:xfrm>
            <a:off x="1280160" y="4380120"/>
            <a:ext cx="4571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9fd8e8"/>
                </a:solidFill>
                <a:latin typeface="Calibri"/>
                <a:ea typeface="Calibri"/>
              </a:rPr>
              <a:t>Module :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Data Warehouse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" name="Image 3" descr="preencoded.png"/>
          <p:cNvPicPr/>
          <p:nvPr/>
        </p:nvPicPr>
        <p:blipFill>
          <a:blip r:embed="rId4"/>
          <a:stretch/>
        </p:blipFill>
        <p:spPr>
          <a:xfrm>
            <a:off x="822960" y="4883040"/>
            <a:ext cx="291960" cy="291960"/>
          </a:xfrm>
          <a:prstGeom prst="rect">
            <a:avLst/>
          </a:prstGeom>
          <a:ln w="0">
            <a:noFill/>
          </a:ln>
        </p:spPr>
      </p:pic>
      <p:sp>
        <p:nvSpPr>
          <p:cNvPr id="21" name="Text 9">
            <a:hlinkClick r:id="rId5"/>
          </p:cNvPr>
          <p:cNvSpPr/>
          <p:nvPr/>
        </p:nvSpPr>
        <p:spPr>
          <a:xfrm>
            <a:off x="1280160" y="4818960"/>
            <a:ext cx="5942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 u="sng">
                <a:solidFill>
                  <a:srgbClr val="0563c1"/>
                </a:solidFill>
                <a:uFillTx/>
                <a:latin typeface="Calibri"/>
                <a:ea typeface="Calibri"/>
                <a:hlinkClick r:id="rId6"/>
              </a:rPr>
              <a:t>github.com/GutzRogue/alomrane-bi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0"/>
          <p:cNvSpPr/>
          <p:nvPr/>
        </p:nvSpPr>
        <p:spPr>
          <a:xfrm>
            <a:off x="822960" y="5806440"/>
            <a:ext cx="1782360" cy="566280"/>
          </a:xfrm>
          <a:prstGeom prst="roundRect">
            <a:avLst>
              <a:gd name="adj" fmla="val 1290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d5a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" name="Image 4" descr="preencoded.png"/>
          <p:cNvPicPr/>
          <p:nvPr/>
        </p:nvPicPr>
        <p:blipFill>
          <a:blip r:embed="rId7"/>
          <a:stretch/>
        </p:blipFill>
        <p:spPr>
          <a:xfrm>
            <a:off x="941760" y="5943600"/>
            <a:ext cx="291960" cy="291960"/>
          </a:xfrm>
          <a:prstGeom prst="rect">
            <a:avLst/>
          </a:prstGeom>
          <a:ln w="0">
            <a:noFill/>
          </a:ln>
        </p:spPr>
      </p:pic>
      <p:sp>
        <p:nvSpPr>
          <p:cNvPr id="24" name="Text 11"/>
          <p:cNvSpPr/>
          <p:nvPr/>
        </p:nvSpPr>
        <p:spPr>
          <a:xfrm>
            <a:off x="1280160" y="5806440"/>
            <a:ext cx="12794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Docker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2"/>
          <p:cNvSpPr/>
          <p:nvPr/>
        </p:nvSpPr>
        <p:spPr>
          <a:xfrm>
            <a:off x="2715840" y="5806440"/>
            <a:ext cx="1782360" cy="566280"/>
          </a:xfrm>
          <a:prstGeom prst="roundRect">
            <a:avLst>
              <a:gd name="adj" fmla="val 1290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d5a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" name="Image 5" descr="preencoded.png"/>
          <p:cNvPicPr/>
          <p:nvPr/>
        </p:nvPicPr>
        <p:blipFill>
          <a:blip r:embed="rId8"/>
          <a:stretch/>
        </p:blipFill>
        <p:spPr>
          <a:xfrm>
            <a:off x="2834640" y="5943600"/>
            <a:ext cx="291960" cy="291960"/>
          </a:xfrm>
          <a:prstGeom prst="rect">
            <a:avLst/>
          </a:prstGeom>
          <a:ln w="0">
            <a:noFill/>
          </a:ln>
        </p:spPr>
      </p:pic>
      <p:sp>
        <p:nvSpPr>
          <p:cNvPr id="27" name="Text 13"/>
          <p:cNvSpPr/>
          <p:nvPr/>
        </p:nvSpPr>
        <p:spPr>
          <a:xfrm>
            <a:off x="3173040" y="5806440"/>
            <a:ext cx="12794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PostgreSQL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14"/>
          <p:cNvSpPr/>
          <p:nvPr/>
        </p:nvSpPr>
        <p:spPr>
          <a:xfrm>
            <a:off x="4608720" y="5806440"/>
            <a:ext cx="1782360" cy="566280"/>
          </a:xfrm>
          <a:prstGeom prst="roundRect">
            <a:avLst>
              <a:gd name="adj" fmla="val 1290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d5a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" name="Image 6" descr="preencoded.png"/>
          <p:cNvPicPr/>
          <p:nvPr/>
        </p:nvPicPr>
        <p:blipFill>
          <a:blip r:embed="rId9"/>
          <a:stretch/>
        </p:blipFill>
        <p:spPr>
          <a:xfrm>
            <a:off x="4727520" y="5943600"/>
            <a:ext cx="291960" cy="291960"/>
          </a:xfrm>
          <a:prstGeom prst="rect">
            <a:avLst/>
          </a:prstGeom>
          <a:ln w="0">
            <a:noFill/>
          </a:ln>
        </p:spPr>
      </p:pic>
      <p:sp>
        <p:nvSpPr>
          <p:cNvPr id="30" name="Text 15"/>
          <p:cNvSpPr/>
          <p:nvPr/>
        </p:nvSpPr>
        <p:spPr>
          <a:xfrm>
            <a:off x="5065920" y="5806440"/>
            <a:ext cx="12794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Apache Hop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16"/>
          <p:cNvSpPr/>
          <p:nvPr/>
        </p:nvSpPr>
        <p:spPr>
          <a:xfrm>
            <a:off x="6501240" y="5806440"/>
            <a:ext cx="1782360" cy="566280"/>
          </a:xfrm>
          <a:prstGeom prst="roundRect">
            <a:avLst>
              <a:gd name="adj" fmla="val 1290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d5a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" name="Image 7" descr="preencoded.png"/>
          <p:cNvPicPr/>
          <p:nvPr/>
        </p:nvPicPr>
        <p:blipFill>
          <a:blip r:embed="rId10"/>
          <a:stretch/>
        </p:blipFill>
        <p:spPr>
          <a:xfrm>
            <a:off x="6620400" y="5943600"/>
            <a:ext cx="291960" cy="291960"/>
          </a:xfrm>
          <a:prstGeom prst="rect">
            <a:avLst/>
          </a:prstGeom>
          <a:ln w="0">
            <a:noFill/>
          </a:ln>
        </p:spPr>
      </p:pic>
      <p:sp>
        <p:nvSpPr>
          <p:cNvPr id="33" name="Text 17"/>
          <p:cNvSpPr/>
          <p:nvPr/>
        </p:nvSpPr>
        <p:spPr>
          <a:xfrm>
            <a:off x="6958440" y="5806440"/>
            <a:ext cx="12794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Metabase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18"/>
          <p:cNvSpPr/>
          <p:nvPr/>
        </p:nvSpPr>
        <p:spPr>
          <a:xfrm>
            <a:off x="8394120" y="5806440"/>
            <a:ext cx="1782360" cy="566280"/>
          </a:xfrm>
          <a:prstGeom prst="roundRect">
            <a:avLst>
              <a:gd name="adj" fmla="val 1290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d5a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" name="Image 8" descr="preencoded.png"/>
          <p:cNvPicPr/>
          <p:nvPr/>
        </p:nvPicPr>
        <p:blipFill>
          <a:blip r:embed="rId11"/>
          <a:stretch/>
        </p:blipFill>
        <p:spPr>
          <a:xfrm>
            <a:off x="8512920" y="5943600"/>
            <a:ext cx="291960" cy="291960"/>
          </a:xfrm>
          <a:prstGeom prst="rect">
            <a:avLst/>
          </a:prstGeom>
          <a:ln w="0">
            <a:noFill/>
          </a:ln>
        </p:spPr>
      </p:pic>
      <p:sp>
        <p:nvSpPr>
          <p:cNvPr id="36" name="Text 19"/>
          <p:cNvSpPr/>
          <p:nvPr/>
        </p:nvSpPr>
        <p:spPr>
          <a:xfrm>
            <a:off x="8851320" y="5806440"/>
            <a:ext cx="12794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Python/Faker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548640" y="32004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1c7293"/>
                </a:solidFill>
                <a:latin typeface="Calibri"/>
                <a:ea typeface="Calibri"/>
              </a:rPr>
              <a:t>CADRAGE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548640" y="56700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2430"/>
                </a:solidFill>
                <a:latin typeface="Cambria"/>
                <a:ea typeface="Cambria"/>
              </a:rPr>
              <a:t>Contexte métier et objectifs du projet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2"/>
          <p:cNvSpPr/>
          <p:nvPr/>
        </p:nvSpPr>
        <p:spPr>
          <a:xfrm>
            <a:off x="457200" y="647388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b79"/>
                </a:solidFill>
                <a:latin typeface="Calibri"/>
                <a:ea typeface="Calibri"/>
              </a:rPr>
              <a:t>Projet BI — AL OMRANE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11368800" y="64738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b79"/>
                </a:solidFill>
                <a:latin typeface="Calibri"/>
                <a:ea typeface="Calibri"/>
              </a:rPr>
              <a:t>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4"/>
          <p:cNvSpPr/>
          <p:nvPr/>
        </p:nvSpPr>
        <p:spPr>
          <a:xfrm>
            <a:off x="548640" y="1600200"/>
            <a:ext cx="4662720" cy="4479840"/>
          </a:xfrm>
          <a:prstGeom prst="roundRect">
            <a:avLst>
              <a:gd name="adj" fmla="val 1633"/>
            </a:avLst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2" name="Image 0" descr="preencoded.png"/>
          <p:cNvPicPr/>
          <p:nvPr/>
        </p:nvPicPr>
        <p:blipFill>
          <a:blip r:embed="rId1"/>
          <a:stretch/>
        </p:blipFill>
        <p:spPr>
          <a:xfrm>
            <a:off x="868680" y="1920240"/>
            <a:ext cx="456480" cy="456480"/>
          </a:xfrm>
          <a:prstGeom prst="rect">
            <a:avLst/>
          </a:prstGeom>
          <a:ln w="0">
            <a:noFill/>
          </a:ln>
        </p:spPr>
      </p:pic>
      <p:sp>
        <p:nvSpPr>
          <p:cNvPr id="43" name="Text 5"/>
          <p:cNvSpPr/>
          <p:nvPr/>
        </p:nvSpPr>
        <p:spPr>
          <a:xfrm>
            <a:off x="1463040" y="1938600"/>
            <a:ext cx="3565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Cas d'étude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6"/>
          <p:cNvSpPr/>
          <p:nvPr/>
        </p:nvSpPr>
        <p:spPr>
          <a:xfrm>
            <a:off x="868680" y="242316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cadcfc"/>
                </a:solidFill>
                <a:latin typeface="Calibri"/>
                <a:ea typeface="Calibri"/>
              </a:rPr>
              <a:t>Société immobilière AL OMRANE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7"/>
          <p:cNvSpPr/>
          <p:nvPr/>
        </p:nvSpPr>
        <p:spPr>
          <a:xfrm>
            <a:off x="868680" y="2926080"/>
            <a:ext cx="3931920" cy="360"/>
          </a:xfrm>
          <a:prstGeom prst="line">
            <a:avLst/>
          </a:prstGeom>
          <a:ln w="12700">
            <a:solidFill>
              <a:srgbClr val="3d5a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" name="Image 1" descr="preencoded.png"/>
          <p:cNvPicPr/>
          <p:nvPr/>
        </p:nvPicPr>
        <p:blipFill>
          <a:blip r:embed="rId2"/>
          <a:stretch/>
        </p:blipFill>
        <p:spPr>
          <a:xfrm>
            <a:off x="868680" y="3154680"/>
            <a:ext cx="383400" cy="383400"/>
          </a:xfrm>
          <a:prstGeom prst="rect">
            <a:avLst/>
          </a:prstGeom>
          <a:ln w="0">
            <a:noFill/>
          </a:ln>
        </p:spPr>
      </p:pic>
      <p:sp>
        <p:nvSpPr>
          <p:cNvPr id="47" name="Text 8"/>
          <p:cNvSpPr/>
          <p:nvPr/>
        </p:nvSpPr>
        <p:spPr>
          <a:xfrm>
            <a:off x="1371600" y="316368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Problème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9"/>
          <p:cNvSpPr/>
          <p:nvPr/>
        </p:nvSpPr>
        <p:spPr>
          <a:xfrm>
            <a:off x="868680" y="3566160"/>
            <a:ext cx="406836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e5eef5"/>
                </a:solidFill>
                <a:latin typeface="Calibri"/>
                <a:ea typeface="Calibri"/>
              </a:rPr>
              <a:t>Les données de ventes existent, mais elles ne sont pas structurées pour l'analyse décisionnelle.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10"/>
          <p:cNvSpPr/>
          <p:nvPr/>
        </p:nvSpPr>
        <p:spPr>
          <a:xfrm>
            <a:off x="868680" y="4937760"/>
            <a:ext cx="40683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fd8e8"/>
                </a:solidFill>
                <a:latin typeface="Calibri"/>
                <a:ea typeface="Calibri"/>
              </a:rPr>
              <a:t>Une base transactionnelle n'est pas idéale pour le reporting : il faut séparer opérationnel et analytique.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11"/>
          <p:cNvSpPr/>
          <p:nvPr/>
        </p:nvSpPr>
        <p:spPr>
          <a:xfrm>
            <a:off x="5486400" y="1645920"/>
            <a:ext cx="502200" cy="5022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12"/>
          <p:cNvSpPr/>
          <p:nvPr/>
        </p:nvSpPr>
        <p:spPr>
          <a:xfrm>
            <a:off x="5486400" y="164592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13"/>
          <p:cNvSpPr/>
          <p:nvPr/>
        </p:nvSpPr>
        <p:spPr>
          <a:xfrm>
            <a:off x="6172200" y="1645920"/>
            <a:ext cx="5485680" cy="712440"/>
          </a:xfrm>
          <a:prstGeom prst="roundRect">
            <a:avLst>
              <a:gd name="adj" fmla="val 7692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4"/>
          <p:cNvSpPr/>
          <p:nvPr/>
        </p:nvSpPr>
        <p:spPr>
          <a:xfrm>
            <a:off x="6355080" y="1645920"/>
            <a:ext cx="51199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b2430"/>
                </a:solidFill>
                <a:latin typeface="Calibri"/>
                <a:ea typeface="Calibri"/>
              </a:rPr>
              <a:t>Générer un jeu de données cohérent et réaliste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15"/>
          <p:cNvSpPr/>
          <p:nvPr/>
        </p:nvSpPr>
        <p:spPr>
          <a:xfrm>
            <a:off x="5486400" y="2514600"/>
            <a:ext cx="502200" cy="5022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16"/>
          <p:cNvSpPr/>
          <p:nvPr/>
        </p:nvSpPr>
        <p:spPr>
          <a:xfrm>
            <a:off x="5486400" y="251460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17"/>
          <p:cNvSpPr/>
          <p:nvPr/>
        </p:nvSpPr>
        <p:spPr>
          <a:xfrm>
            <a:off x="6172200" y="2514600"/>
            <a:ext cx="5485680" cy="712440"/>
          </a:xfrm>
          <a:prstGeom prst="roundRect">
            <a:avLst>
              <a:gd name="adj" fmla="val 7692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18"/>
          <p:cNvSpPr/>
          <p:nvPr/>
        </p:nvSpPr>
        <p:spPr>
          <a:xfrm>
            <a:off x="6355080" y="2514600"/>
            <a:ext cx="51199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b2430"/>
                </a:solidFill>
                <a:latin typeface="Calibri"/>
                <a:ea typeface="Calibri"/>
              </a:rPr>
              <a:t>Charger ces données dans une base source transactionnelle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19"/>
          <p:cNvSpPr/>
          <p:nvPr/>
        </p:nvSpPr>
        <p:spPr>
          <a:xfrm>
            <a:off x="5486400" y="3383280"/>
            <a:ext cx="502200" cy="5022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20"/>
          <p:cNvSpPr/>
          <p:nvPr/>
        </p:nvSpPr>
        <p:spPr>
          <a:xfrm>
            <a:off x="5486400" y="338328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21"/>
          <p:cNvSpPr/>
          <p:nvPr/>
        </p:nvSpPr>
        <p:spPr>
          <a:xfrm>
            <a:off x="6172200" y="3383280"/>
            <a:ext cx="5485680" cy="712440"/>
          </a:xfrm>
          <a:prstGeom prst="roundRect">
            <a:avLst>
              <a:gd name="adj" fmla="val 7692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22"/>
          <p:cNvSpPr/>
          <p:nvPr/>
        </p:nvSpPr>
        <p:spPr>
          <a:xfrm>
            <a:off x="6355080" y="3383280"/>
            <a:ext cx="51199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b2430"/>
                </a:solidFill>
                <a:latin typeface="Calibri"/>
                <a:ea typeface="Calibri"/>
              </a:rPr>
              <a:t>Concevoir un Data Warehouse en schéma en étoile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23"/>
          <p:cNvSpPr/>
          <p:nvPr/>
        </p:nvSpPr>
        <p:spPr>
          <a:xfrm>
            <a:off x="5486400" y="4251960"/>
            <a:ext cx="502200" cy="5022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24"/>
          <p:cNvSpPr/>
          <p:nvPr/>
        </p:nvSpPr>
        <p:spPr>
          <a:xfrm>
            <a:off x="5486400" y="425196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25"/>
          <p:cNvSpPr/>
          <p:nvPr/>
        </p:nvSpPr>
        <p:spPr>
          <a:xfrm>
            <a:off x="6172200" y="4251960"/>
            <a:ext cx="5485680" cy="712440"/>
          </a:xfrm>
          <a:prstGeom prst="roundRect">
            <a:avLst>
              <a:gd name="adj" fmla="val 7692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26"/>
          <p:cNvSpPr/>
          <p:nvPr/>
        </p:nvSpPr>
        <p:spPr>
          <a:xfrm>
            <a:off x="6355080" y="4251960"/>
            <a:ext cx="51199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b2430"/>
                </a:solidFill>
                <a:latin typeface="Calibri"/>
                <a:ea typeface="Calibri"/>
              </a:rPr>
              <a:t>Automatiser l'ETL avec Apache Hop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27"/>
          <p:cNvSpPr/>
          <p:nvPr/>
        </p:nvSpPr>
        <p:spPr>
          <a:xfrm>
            <a:off x="5486400" y="5120640"/>
            <a:ext cx="502200" cy="5022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28"/>
          <p:cNvSpPr/>
          <p:nvPr/>
        </p:nvSpPr>
        <p:spPr>
          <a:xfrm>
            <a:off x="5486400" y="512064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29"/>
          <p:cNvSpPr/>
          <p:nvPr/>
        </p:nvSpPr>
        <p:spPr>
          <a:xfrm>
            <a:off x="6172200" y="5120640"/>
            <a:ext cx="5485680" cy="712440"/>
          </a:xfrm>
          <a:prstGeom prst="roundRect">
            <a:avLst>
              <a:gd name="adj" fmla="val 7692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30"/>
          <p:cNvSpPr/>
          <p:nvPr/>
        </p:nvSpPr>
        <p:spPr>
          <a:xfrm>
            <a:off x="6355080" y="5120640"/>
            <a:ext cx="51199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b2430"/>
                </a:solidFill>
                <a:latin typeface="Calibri"/>
                <a:ea typeface="Calibri"/>
              </a:rPr>
              <a:t>Construire un dashboard analytique avec Metabase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548640" y="32004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1c7293"/>
                </a:solidFill>
                <a:latin typeface="Calibri"/>
                <a:ea typeface="Calibri"/>
              </a:rPr>
              <a:t>VUE D'ENSEMBLE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"/>
          <p:cNvSpPr/>
          <p:nvPr/>
        </p:nvSpPr>
        <p:spPr>
          <a:xfrm>
            <a:off x="548640" y="56700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2430"/>
                </a:solidFill>
                <a:latin typeface="Cambria"/>
                <a:ea typeface="Cambria"/>
              </a:rPr>
              <a:t>Architecture décisionnelle du projet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2"/>
          <p:cNvSpPr/>
          <p:nvPr/>
        </p:nvSpPr>
        <p:spPr>
          <a:xfrm>
            <a:off x="457200" y="647388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b79"/>
                </a:solidFill>
                <a:latin typeface="Calibri"/>
                <a:ea typeface="Calibri"/>
              </a:rPr>
              <a:t>Projet BI — AL OMRANE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3"/>
          <p:cNvSpPr/>
          <p:nvPr/>
        </p:nvSpPr>
        <p:spPr>
          <a:xfrm>
            <a:off x="11368800" y="64738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b79"/>
                </a:solidFill>
                <a:latin typeface="Calibri"/>
                <a:ea typeface="Calibri"/>
              </a:rPr>
              <a:t>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4"/>
          <p:cNvSpPr/>
          <p:nvPr/>
        </p:nvSpPr>
        <p:spPr>
          <a:xfrm>
            <a:off x="609480" y="1920240"/>
            <a:ext cx="1690920" cy="2102400"/>
          </a:xfrm>
          <a:prstGeom prst="roundRect">
            <a:avLst>
              <a:gd name="adj" fmla="val 4865"/>
            </a:avLst>
          </a:prstGeom>
          <a:solidFill>
            <a:srgbClr val="f4f8fa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5" name="Image 0" descr="preencoded.png"/>
          <p:cNvPicPr/>
          <p:nvPr/>
        </p:nvPicPr>
        <p:blipFill>
          <a:blip r:embed="rId1"/>
          <a:stretch/>
        </p:blipFill>
        <p:spPr>
          <a:xfrm>
            <a:off x="1208520" y="2176200"/>
            <a:ext cx="493200" cy="493200"/>
          </a:xfrm>
          <a:prstGeom prst="rect">
            <a:avLst/>
          </a:prstGeom>
          <a:ln w="0">
            <a:noFill/>
          </a:ln>
        </p:spPr>
      </p:pic>
      <p:sp>
        <p:nvSpPr>
          <p:cNvPr id="76" name="Text 5"/>
          <p:cNvSpPr/>
          <p:nvPr/>
        </p:nvSpPr>
        <p:spPr>
          <a:xfrm>
            <a:off x="682560" y="2788920"/>
            <a:ext cx="15447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b2430"/>
                </a:solidFill>
                <a:latin typeface="Calibri"/>
                <a:ea typeface="Calibri"/>
              </a:rPr>
              <a:t>Python + Faker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6"/>
          <p:cNvSpPr/>
          <p:nvPr/>
        </p:nvSpPr>
        <p:spPr>
          <a:xfrm>
            <a:off x="682560" y="3337560"/>
            <a:ext cx="1544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5b6b79"/>
                </a:solidFill>
                <a:latin typeface="Calibri"/>
                <a:ea typeface="Calibri"/>
              </a:rPr>
              <a:t>Génération des données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8" name="Image 1" descr="preencoded.png"/>
          <p:cNvPicPr/>
          <p:nvPr/>
        </p:nvPicPr>
        <p:blipFill>
          <a:blip r:embed="rId2"/>
          <a:stretch/>
        </p:blipFill>
        <p:spPr>
          <a:xfrm>
            <a:off x="2264400" y="285300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79" name="Shape 7"/>
          <p:cNvSpPr/>
          <p:nvPr/>
        </p:nvSpPr>
        <p:spPr>
          <a:xfrm>
            <a:off x="2465640" y="1920240"/>
            <a:ext cx="1690920" cy="2102400"/>
          </a:xfrm>
          <a:prstGeom prst="roundRect">
            <a:avLst>
              <a:gd name="adj" fmla="val 4865"/>
            </a:avLst>
          </a:prstGeom>
          <a:solidFill>
            <a:srgbClr val="f4f8fa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Image 2" descr="preencoded.png"/>
          <p:cNvPicPr/>
          <p:nvPr/>
        </p:nvPicPr>
        <p:blipFill>
          <a:blip r:embed="rId3"/>
          <a:stretch/>
        </p:blipFill>
        <p:spPr>
          <a:xfrm>
            <a:off x="3064680" y="2176200"/>
            <a:ext cx="493200" cy="493200"/>
          </a:xfrm>
          <a:prstGeom prst="rect">
            <a:avLst/>
          </a:prstGeom>
          <a:ln w="0">
            <a:noFill/>
          </a:ln>
        </p:spPr>
      </p:pic>
      <p:sp>
        <p:nvSpPr>
          <p:cNvPr id="81" name="Text 8"/>
          <p:cNvSpPr/>
          <p:nvPr/>
        </p:nvSpPr>
        <p:spPr>
          <a:xfrm>
            <a:off x="2538720" y="2788920"/>
            <a:ext cx="15447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b2430"/>
                </a:solidFill>
                <a:latin typeface="Calibri"/>
                <a:ea typeface="Calibri"/>
              </a:rPr>
              <a:t>Fichiers CSV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9"/>
          <p:cNvSpPr/>
          <p:nvPr/>
        </p:nvSpPr>
        <p:spPr>
          <a:xfrm>
            <a:off x="2538720" y="3337560"/>
            <a:ext cx="1544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5b6b79"/>
                </a:solidFill>
                <a:latin typeface="Calibri"/>
                <a:ea typeface="Calibri"/>
              </a:rPr>
              <a:t>5 fichiers exportés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" name="Image 3" descr="preencoded.png"/>
          <p:cNvPicPr/>
          <p:nvPr/>
        </p:nvPicPr>
        <p:blipFill>
          <a:blip r:embed="rId4"/>
          <a:stretch/>
        </p:blipFill>
        <p:spPr>
          <a:xfrm>
            <a:off x="4120920" y="285300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84" name="Shape 10"/>
          <p:cNvSpPr/>
          <p:nvPr/>
        </p:nvSpPr>
        <p:spPr>
          <a:xfrm>
            <a:off x="4321800" y="1920240"/>
            <a:ext cx="1690920" cy="2102400"/>
          </a:xfrm>
          <a:prstGeom prst="roundRect">
            <a:avLst>
              <a:gd name="adj" fmla="val 4865"/>
            </a:avLst>
          </a:prstGeom>
          <a:solidFill>
            <a:srgbClr val="065a82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5" name="Image 4" descr="preencoded.png"/>
          <p:cNvPicPr/>
          <p:nvPr/>
        </p:nvPicPr>
        <p:blipFill>
          <a:blip r:embed="rId5"/>
          <a:stretch/>
        </p:blipFill>
        <p:spPr>
          <a:xfrm>
            <a:off x="4920840" y="2176200"/>
            <a:ext cx="493200" cy="493200"/>
          </a:xfrm>
          <a:prstGeom prst="rect">
            <a:avLst/>
          </a:prstGeom>
          <a:ln w="0">
            <a:noFill/>
          </a:ln>
        </p:spPr>
      </p:pic>
      <p:sp>
        <p:nvSpPr>
          <p:cNvPr id="86" name="Text 11"/>
          <p:cNvSpPr/>
          <p:nvPr/>
        </p:nvSpPr>
        <p:spPr>
          <a:xfrm>
            <a:off x="4395240" y="2788920"/>
            <a:ext cx="15447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PostgreSQL Source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12"/>
          <p:cNvSpPr/>
          <p:nvPr/>
        </p:nvSpPr>
        <p:spPr>
          <a:xfrm>
            <a:off x="4395240" y="3337560"/>
            <a:ext cx="1544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e5eef5"/>
                </a:solidFill>
                <a:latin typeface="Calibri"/>
                <a:ea typeface="Calibri"/>
              </a:rPr>
              <a:t>alomrane_source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Image 5" descr="preencoded.png"/>
          <p:cNvPicPr/>
          <p:nvPr/>
        </p:nvPicPr>
        <p:blipFill>
          <a:blip r:embed="rId6"/>
          <a:stretch/>
        </p:blipFill>
        <p:spPr>
          <a:xfrm>
            <a:off x="5977080" y="285300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89" name="Shape 13"/>
          <p:cNvSpPr/>
          <p:nvPr/>
        </p:nvSpPr>
        <p:spPr>
          <a:xfrm>
            <a:off x="6178320" y="1920240"/>
            <a:ext cx="1690920" cy="2102400"/>
          </a:xfrm>
          <a:prstGeom prst="roundRect">
            <a:avLst>
              <a:gd name="adj" fmla="val 4865"/>
            </a:avLst>
          </a:prstGeom>
          <a:solidFill>
            <a:srgbClr val="1c7293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0" name="Image 6" descr="preencoded.png"/>
          <p:cNvPicPr/>
          <p:nvPr/>
        </p:nvPicPr>
        <p:blipFill>
          <a:blip r:embed="rId7"/>
          <a:stretch/>
        </p:blipFill>
        <p:spPr>
          <a:xfrm>
            <a:off x="6777000" y="2176200"/>
            <a:ext cx="493200" cy="493200"/>
          </a:xfrm>
          <a:prstGeom prst="rect">
            <a:avLst/>
          </a:prstGeom>
          <a:ln w="0">
            <a:noFill/>
          </a:ln>
        </p:spPr>
      </p:pic>
      <p:sp>
        <p:nvSpPr>
          <p:cNvPr id="91" name="Text 14"/>
          <p:cNvSpPr/>
          <p:nvPr/>
        </p:nvSpPr>
        <p:spPr>
          <a:xfrm>
            <a:off x="6251400" y="2788920"/>
            <a:ext cx="15447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Apache Hop ETL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15"/>
          <p:cNvSpPr/>
          <p:nvPr/>
        </p:nvSpPr>
        <p:spPr>
          <a:xfrm>
            <a:off x="6251400" y="3337560"/>
            <a:ext cx="1544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e5eef5"/>
                </a:solidFill>
                <a:latin typeface="Calibri"/>
                <a:ea typeface="Calibri"/>
              </a:rPr>
              <a:t>Pipelines + workflow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" name="Image 7" descr="preencoded.png"/>
          <p:cNvPicPr/>
          <p:nvPr/>
        </p:nvPicPr>
        <p:blipFill>
          <a:blip r:embed="rId8"/>
          <a:stretch/>
        </p:blipFill>
        <p:spPr>
          <a:xfrm>
            <a:off x="7833240" y="285300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94" name="Shape 16"/>
          <p:cNvSpPr/>
          <p:nvPr/>
        </p:nvSpPr>
        <p:spPr>
          <a:xfrm>
            <a:off x="8034480" y="1920240"/>
            <a:ext cx="1690920" cy="2102400"/>
          </a:xfrm>
          <a:prstGeom prst="roundRect">
            <a:avLst>
              <a:gd name="adj" fmla="val 4865"/>
            </a:avLst>
          </a:prstGeom>
          <a:solidFill>
            <a:srgbClr val="065a82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5" name="Image 8" descr="preencoded.png"/>
          <p:cNvPicPr/>
          <p:nvPr/>
        </p:nvPicPr>
        <p:blipFill>
          <a:blip r:embed="rId9"/>
          <a:stretch/>
        </p:blipFill>
        <p:spPr>
          <a:xfrm>
            <a:off x="8633160" y="2176200"/>
            <a:ext cx="493200" cy="493200"/>
          </a:xfrm>
          <a:prstGeom prst="rect">
            <a:avLst/>
          </a:prstGeom>
          <a:ln w="0">
            <a:noFill/>
          </a:ln>
        </p:spPr>
      </p:pic>
      <p:sp>
        <p:nvSpPr>
          <p:cNvPr id="96" name="Text 17"/>
          <p:cNvSpPr/>
          <p:nvPr/>
        </p:nvSpPr>
        <p:spPr>
          <a:xfrm>
            <a:off x="8107560" y="2788920"/>
            <a:ext cx="15447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PostgreSQL DW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8"/>
          <p:cNvSpPr/>
          <p:nvPr/>
        </p:nvSpPr>
        <p:spPr>
          <a:xfrm>
            <a:off x="8107560" y="3337560"/>
            <a:ext cx="1544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e5eef5"/>
                </a:solidFill>
                <a:latin typeface="Calibri"/>
                <a:ea typeface="Calibri"/>
              </a:rPr>
              <a:t>alomrane_dw — étoile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Image 9" descr="preencoded.png"/>
          <p:cNvPicPr/>
          <p:nvPr/>
        </p:nvPicPr>
        <p:blipFill>
          <a:blip r:embed="rId10"/>
          <a:stretch/>
        </p:blipFill>
        <p:spPr>
          <a:xfrm>
            <a:off x="9689400" y="285300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99" name="Shape 19"/>
          <p:cNvSpPr/>
          <p:nvPr/>
        </p:nvSpPr>
        <p:spPr>
          <a:xfrm>
            <a:off x="9890640" y="1920240"/>
            <a:ext cx="1690920" cy="2102400"/>
          </a:xfrm>
          <a:prstGeom prst="roundRect">
            <a:avLst>
              <a:gd name="adj" fmla="val 4865"/>
            </a:avLst>
          </a:prstGeom>
          <a:solidFill>
            <a:srgbClr val="f4f8fa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Image 10" descr="preencoded.png"/>
          <p:cNvPicPr/>
          <p:nvPr/>
        </p:nvPicPr>
        <p:blipFill>
          <a:blip r:embed="rId11"/>
          <a:stretch/>
        </p:blipFill>
        <p:spPr>
          <a:xfrm>
            <a:off x="10489680" y="2176200"/>
            <a:ext cx="493200" cy="493200"/>
          </a:xfrm>
          <a:prstGeom prst="rect">
            <a:avLst/>
          </a:prstGeom>
          <a:ln w="0">
            <a:noFill/>
          </a:ln>
        </p:spPr>
      </p:pic>
      <p:sp>
        <p:nvSpPr>
          <p:cNvPr id="101" name="Text 20"/>
          <p:cNvSpPr/>
          <p:nvPr/>
        </p:nvSpPr>
        <p:spPr>
          <a:xfrm>
            <a:off x="9963720" y="2788920"/>
            <a:ext cx="15447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b2430"/>
                </a:solidFill>
                <a:latin typeface="Calibri"/>
                <a:ea typeface="Calibri"/>
              </a:rPr>
              <a:t>Metabase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21"/>
          <p:cNvSpPr/>
          <p:nvPr/>
        </p:nvSpPr>
        <p:spPr>
          <a:xfrm>
            <a:off x="9963720" y="3337560"/>
            <a:ext cx="1544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5b6b79"/>
                </a:solidFill>
                <a:latin typeface="Calibri"/>
                <a:ea typeface="Calibri"/>
              </a:rPr>
              <a:t>Dashboards décisionnels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22"/>
          <p:cNvSpPr/>
          <p:nvPr/>
        </p:nvSpPr>
        <p:spPr>
          <a:xfrm>
            <a:off x="609480" y="4572000"/>
            <a:ext cx="3534840" cy="1416600"/>
          </a:xfrm>
          <a:prstGeom prst="roundRect">
            <a:avLst>
              <a:gd name="adj" fmla="val 4516"/>
            </a:avLst>
          </a:prstGeom>
          <a:solidFill>
            <a:srgbClr val="ea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23"/>
          <p:cNvSpPr/>
          <p:nvPr/>
        </p:nvSpPr>
        <p:spPr>
          <a:xfrm>
            <a:off x="792360" y="4736520"/>
            <a:ext cx="3169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65a82"/>
                </a:solidFill>
                <a:latin typeface="Cambria"/>
                <a:ea typeface="Cambria"/>
              </a:rPr>
              <a:t>Base source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24"/>
          <p:cNvSpPr/>
          <p:nvPr/>
        </p:nvSpPr>
        <p:spPr>
          <a:xfrm>
            <a:off x="792360" y="5120640"/>
            <a:ext cx="3169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b2430"/>
                </a:solidFill>
                <a:latin typeface="Calibri"/>
                <a:ea typeface="Calibri"/>
              </a:rPr>
              <a:t>Système opérationnel simulé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25"/>
          <p:cNvSpPr/>
          <p:nvPr/>
        </p:nvSpPr>
        <p:spPr>
          <a:xfrm>
            <a:off x="4327920" y="4572000"/>
            <a:ext cx="3534840" cy="1416600"/>
          </a:xfrm>
          <a:prstGeom prst="roundRect">
            <a:avLst>
              <a:gd name="adj" fmla="val 4516"/>
            </a:avLst>
          </a:prstGeom>
          <a:solidFill>
            <a:srgbClr val="ea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26"/>
          <p:cNvSpPr/>
          <p:nvPr/>
        </p:nvSpPr>
        <p:spPr>
          <a:xfrm>
            <a:off x="4510800" y="4736520"/>
            <a:ext cx="3169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65a82"/>
                </a:solidFill>
                <a:latin typeface="Cambria"/>
                <a:ea typeface="Cambria"/>
              </a:rPr>
              <a:t>Data Warehouse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27"/>
          <p:cNvSpPr/>
          <p:nvPr/>
        </p:nvSpPr>
        <p:spPr>
          <a:xfrm>
            <a:off x="4510800" y="5120640"/>
            <a:ext cx="3169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b2430"/>
                </a:solidFill>
                <a:latin typeface="Calibri"/>
                <a:ea typeface="Calibri"/>
              </a:rPr>
              <a:t>Modèle analytique en étoile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28"/>
          <p:cNvSpPr/>
          <p:nvPr/>
        </p:nvSpPr>
        <p:spPr>
          <a:xfrm>
            <a:off x="8046720" y="4572000"/>
            <a:ext cx="3534840" cy="1416600"/>
          </a:xfrm>
          <a:prstGeom prst="roundRect">
            <a:avLst>
              <a:gd name="adj" fmla="val 4516"/>
            </a:avLst>
          </a:prstGeom>
          <a:solidFill>
            <a:srgbClr val="ea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29"/>
          <p:cNvSpPr/>
          <p:nvPr/>
        </p:nvSpPr>
        <p:spPr>
          <a:xfrm>
            <a:off x="8229600" y="4736520"/>
            <a:ext cx="3169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65a82"/>
                </a:solidFill>
                <a:latin typeface="Cambria"/>
                <a:ea typeface="Cambria"/>
              </a:rPr>
              <a:t>Metabase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30"/>
          <p:cNvSpPr/>
          <p:nvPr/>
        </p:nvSpPr>
        <p:spPr>
          <a:xfrm>
            <a:off x="8229600" y="5120640"/>
            <a:ext cx="3169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b2430"/>
                </a:solidFill>
                <a:latin typeface="Calibri"/>
                <a:ea typeface="Calibri"/>
              </a:rPr>
              <a:t>Couche de restitution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0"/>
          <p:cNvSpPr/>
          <p:nvPr/>
        </p:nvSpPr>
        <p:spPr>
          <a:xfrm>
            <a:off x="548640" y="32004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1c7293"/>
                </a:solidFill>
                <a:latin typeface="Calibri"/>
                <a:ea typeface="Calibri"/>
              </a:rPr>
              <a:t>CHOIX TECHNOLOGIQUES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"/>
          <p:cNvSpPr/>
          <p:nvPr/>
        </p:nvSpPr>
        <p:spPr>
          <a:xfrm>
            <a:off x="548640" y="56700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2430"/>
                </a:solidFill>
                <a:latin typeface="Cambria"/>
                <a:ea typeface="Cambria"/>
              </a:rPr>
              <a:t>Choix technologiques et justification d'Apache Hop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2"/>
          <p:cNvSpPr/>
          <p:nvPr/>
        </p:nvSpPr>
        <p:spPr>
          <a:xfrm>
            <a:off x="457200" y="647388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b79"/>
                </a:solidFill>
                <a:latin typeface="Calibri"/>
                <a:ea typeface="Calibri"/>
              </a:rPr>
              <a:t>Projet BI — AL OMRANE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3"/>
          <p:cNvSpPr/>
          <p:nvPr/>
        </p:nvSpPr>
        <p:spPr>
          <a:xfrm>
            <a:off x="11368800" y="64738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b79"/>
                </a:solidFill>
                <a:latin typeface="Calibri"/>
                <a:ea typeface="Calibri"/>
              </a:rPr>
              <a:t>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4"/>
          <p:cNvSpPr/>
          <p:nvPr/>
        </p:nvSpPr>
        <p:spPr>
          <a:xfrm>
            <a:off x="548640" y="1691640"/>
            <a:ext cx="456480" cy="456480"/>
          </a:xfrm>
          <a:prstGeom prst="ellipse">
            <a:avLst/>
          </a:prstGeom>
          <a:solidFill>
            <a:srgbClr val="ea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" name="Image 0" descr="preencoded.png"/>
          <p:cNvPicPr/>
          <p:nvPr/>
        </p:nvPicPr>
        <p:blipFill>
          <a:blip r:embed="rId1"/>
          <a:stretch/>
        </p:blipFill>
        <p:spPr>
          <a:xfrm>
            <a:off x="621720" y="1764720"/>
            <a:ext cx="310320" cy="310320"/>
          </a:xfrm>
          <a:prstGeom prst="rect">
            <a:avLst/>
          </a:prstGeom>
          <a:ln w="0">
            <a:noFill/>
          </a:ln>
        </p:spPr>
      </p:pic>
      <p:sp>
        <p:nvSpPr>
          <p:cNvPr id="118" name="Text 5"/>
          <p:cNvSpPr/>
          <p:nvPr/>
        </p:nvSpPr>
        <p:spPr>
          <a:xfrm>
            <a:off x="1188720" y="1691640"/>
            <a:ext cx="44798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65a82"/>
                </a:solidFill>
                <a:latin typeface="Calibri"/>
                <a:ea typeface="Calibri"/>
              </a:rPr>
              <a:t>Docker — </a:t>
            </a:r>
            <a:r>
              <a:rPr b="0" lang="en-US" sz="1250" spc="-1" strike="noStrike">
                <a:solidFill>
                  <a:srgbClr val="1b2430"/>
                </a:solidFill>
                <a:latin typeface="Calibri"/>
                <a:ea typeface="Calibri"/>
              </a:rPr>
              <a:t>Isolation des services et reproductibilité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6"/>
          <p:cNvSpPr/>
          <p:nvPr/>
        </p:nvSpPr>
        <p:spPr>
          <a:xfrm>
            <a:off x="548640" y="2295000"/>
            <a:ext cx="456480" cy="456480"/>
          </a:xfrm>
          <a:prstGeom prst="ellipse">
            <a:avLst/>
          </a:prstGeom>
          <a:solidFill>
            <a:srgbClr val="ea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0" name="Image 1" descr="preencoded.png"/>
          <p:cNvPicPr/>
          <p:nvPr/>
        </p:nvPicPr>
        <p:blipFill>
          <a:blip r:embed="rId2"/>
          <a:stretch/>
        </p:blipFill>
        <p:spPr>
          <a:xfrm>
            <a:off x="621720" y="2368440"/>
            <a:ext cx="310320" cy="310320"/>
          </a:xfrm>
          <a:prstGeom prst="rect">
            <a:avLst/>
          </a:prstGeom>
          <a:ln w="0">
            <a:noFill/>
          </a:ln>
        </p:spPr>
      </p:pic>
      <p:sp>
        <p:nvSpPr>
          <p:cNvPr id="121" name="Text 7"/>
          <p:cNvSpPr/>
          <p:nvPr/>
        </p:nvSpPr>
        <p:spPr>
          <a:xfrm>
            <a:off x="1188720" y="2295000"/>
            <a:ext cx="44798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65a82"/>
                </a:solidFill>
                <a:latin typeface="Calibri"/>
                <a:ea typeface="Calibri"/>
              </a:rPr>
              <a:t>PostgreSQL — </a:t>
            </a:r>
            <a:r>
              <a:rPr b="0" lang="en-US" sz="1250" spc="-1" strike="noStrike">
                <a:solidFill>
                  <a:srgbClr val="1b2430"/>
                </a:solidFill>
                <a:latin typeface="Calibri"/>
                <a:ea typeface="Calibri"/>
              </a:rPr>
              <a:t>SGBD open source pour la base source et le DW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8"/>
          <p:cNvSpPr/>
          <p:nvPr/>
        </p:nvSpPr>
        <p:spPr>
          <a:xfrm>
            <a:off x="548640" y="2898720"/>
            <a:ext cx="456480" cy="456480"/>
          </a:xfrm>
          <a:prstGeom prst="ellipse">
            <a:avLst/>
          </a:prstGeom>
          <a:solidFill>
            <a:srgbClr val="ea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Image 2" descr="preencoded.png"/>
          <p:cNvPicPr/>
          <p:nvPr/>
        </p:nvPicPr>
        <p:blipFill>
          <a:blip r:embed="rId3"/>
          <a:stretch/>
        </p:blipFill>
        <p:spPr>
          <a:xfrm>
            <a:off x="621720" y="2971800"/>
            <a:ext cx="310320" cy="310320"/>
          </a:xfrm>
          <a:prstGeom prst="rect">
            <a:avLst/>
          </a:prstGeom>
          <a:ln w="0">
            <a:noFill/>
          </a:ln>
        </p:spPr>
      </p:pic>
      <p:sp>
        <p:nvSpPr>
          <p:cNvPr id="124" name="Text 9"/>
          <p:cNvSpPr/>
          <p:nvPr/>
        </p:nvSpPr>
        <p:spPr>
          <a:xfrm>
            <a:off x="1188720" y="2898720"/>
            <a:ext cx="44798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65a82"/>
                </a:solidFill>
                <a:latin typeface="Calibri"/>
                <a:ea typeface="Calibri"/>
              </a:rPr>
              <a:t>Python + Faker — </a:t>
            </a:r>
            <a:r>
              <a:rPr b="0" lang="en-US" sz="1250" spc="-1" strike="noStrike">
                <a:solidFill>
                  <a:srgbClr val="1b2430"/>
                </a:solidFill>
                <a:latin typeface="Calibri"/>
                <a:ea typeface="Calibri"/>
              </a:rPr>
              <a:t>Génération rapide de données réalistes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10"/>
          <p:cNvSpPr/>
          <p:nvPr/>
        </p:nvSpPr>
        <p:spPr>
          <a:xfrm>
            <a:off x="548640" y="3502080"/>
            <a:ext cx="456480" cy="456480"/>
          </a:xfrm>
          <a:prstGeom prst="ellipse">
            <a:avLst/>
          </a:prstGeom>
          <a:solidFill>
            <a:srgbClr val="ea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Image 3" descr="preencoded.png"/>
          <p:cNvPicPr/>
          <p:nvPr/>
        </p:nvPicPr>
        <p:blipFill>
          <a:blip r:embed="rId4"/>
          <a:stretch/>
        </p:blipFill>
        <p:spPr>
          <a:xfrm>
            <a:off x="621720" y="3575160"/>
            <a:ext cx="310320" cy="310320"/>
          </a:xfrm>
          <a:prstGeom prst="rect">
            <a:avLst/>
          </a:prstGeom>
          <a:ln w="0">
            <a:noFill/>
          </a:ln>
        </p:spPr>
      </p:pic>
      <p:sp>
        <p:nvSpPr>
          <p:cNvPr id="127" name="Text 11"/>
          <p:cNvSpPr/>
          <p:nvPr/>
        </p:nvSpPr>
        <p:spPr>
          <a:xfrm>
            <a:off x="1188720" y="3502080"/>
            <a:ext cx="44798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65a82"/>
                </a:solidFill>
                <a:latin typeface="Calibri"/>
                <a:ea typeface="Calibri"/>
              </a:rPr>
              <a:t>Apache Hop — </a:t>
            </a:r>
            <a:r>
              <a:rPr b="0" lang="en-US" sz="1250" spc="-1" strike="noStrike">
                <a:solidFill>
                  <a:srgbClr val="1b2430"/>
                </a:solidFill>
                <a:latin typeface="Calibri"/>
                <a:ea typeface="Calibri"/>
              </a:rPr>
              <a:t>ETL graphique, open source, moderne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12"/>
          <p:cNvSpPr/>
          <p:nvPr/>
        </p:nvSpPr>
        <p:spPr>
          <a:xfrm>
            <a:off x="548640" y="4105800"/>
            <a:ext cx="456480" cy="456480"/>
          </a:xfrm>
          <a:prstGeom prst="ellipse">
            <a:avLst/>
          </a:prstGeom>
          <a:solidFill>
            <a:srgbClr val="ea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9" name="Image 4" descr="preencoded.png"/>
          <p:cNvPicPr/>
          <p:nvPr/>
        </p:nvPicPr>
        <p:blipFill>
          <a:blip r:embed="rId5"/>
          <a:stretch/>
        </p:blipFill>
        <p:spPr>
          <a:xfrm>
            <a:off x="621720" y="4178880"/>
            <a:ext cx="310320" cy="310320"/>
          </a:xfrm>
          <a:prstGeom prst="rect">
            <a:avLst/>
          </a:prstGeom>
          <a:ln w="0">
            <a:noFill/>
          </a:ln>
        </p:spPr>
      </p:pic>
      <p:sp>
        <p:nvSpPr>
          <p:cNvPr id="130" name="Text 13"/>
          <p:cNvSpPr/>
          <p:nvPr/>
        </p:nvSpPr>
        <p:spPr>
          <a:xfrm>
            <a:off x="1188720" y="4105800"/>
            <a:ext cx="44798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65a82"/>
                </a:solidFill>
                <a:latin typeface="Calibri"/>
                <a:ea typeface="Calibri"/>
              </a:rPr>
              <a:t>Metabase — </a:t>
            </a:r>
            <a:r>
              <a:rPr b="0" lang="en-US" sz="1250" spc="-1" strike="noStrike">
                <a:solidFill>
                  <a:srgbClr val="1b2430"/>
                </a:solidFill>
                <a:latin typeface="Calibri"/>
                <a:ea typeface="Calibri"/>
              </a:rPr>
              <a:t>Visualisation simple et rapide sur PostgreSQL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14"/>
          <p:cNvSpPr/>
          <p:nvPr/>
        </p:nvSpPr>
        <p:spPr>
          <a:xfrm>
            <a:off x="6126480" y="1600200"/>
            <a:ext cx="5485680" cy="4525560"/>
          </a:xfrm>
          <a:prstGeom prst="roundRect">
            <a:avLst>
              <a:gd name="adj" fmla="val 1616"/>
            </a:avLst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15"/>
          <p:cNvSpPr/>
          <p:nvPr/>
        </p:nvSpPr>
        <p:spPr>
          <a:xfrm>
            <a:off x="6400800" y="1810440"/>
            <a:ext cx="49370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Pourquoi Hop au lieu de Pentaho 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6"/>
          <p:cNvSpPr/>
          <p:nvPr/>
        </p:nvSpPr>
        <p:spPr>
          <a:xfrm>
            <a:off x="6400800" y="2423160"/>
            <a:ext cx="4937040" cy="1142280"/>
          </a:xfrm>
          <a:prstGeom prst="roundRect">
            <a:avLst>
              <a:gd name="adj" fmla="val 4800"/>
            </a:avLst>
          </a:prstGeom>
          <a:solidFill>
            <a:srgbClr val="162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17"/>
          <p:cNvSpPr/>
          <p:nvPr/>
        </p:nvSpPr>
        <p:spPr>
          <a:xfrm>
            <a:off x="6565320" y="2569320"/>
            <a:ext cx="109080" cy="109080"/>
          </a:xfrm>
          <a:prstGeom prst="ellipse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18"/>
          <p:cNvSpPr/>
          <p:nvPr/>
        </p:nvSpPr>
        <p:spPr>
          <a:xfrm>
            <a:off x="6766560" y="2496240"/>
            <a:ext cx="4388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Pentaho CE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19"/>
          <p:cNvSpPr/>
          <p:nvPr/>
        </p:nvSpPr>
        <p:spPr>
          <a:xfrm>
            <a:off x="6565320" y="2834640"/>
            <a:ext cx="4571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Envisagé initialement ; distributions historiques aujourd'hui moins directes à récupérer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20"/>
          <p:cNvSpPr/>
          <p:nvPr/>
        </p:nvSpPr>
        <p:spPr>
          <a:xfrm>
            <a:off x="6400800" y="3703320"/>
            <a:ext cx="4937040" cy="1142280"/>
          </a:xfrm>
          <a:prstGeom prst="roundRect">
            <a:avLst>
              <a:gd name="adj" fmla="val 4800"/>
            </a:avLst>
          </a:prstGeom>
          <a:solidFill>
            <a:srgbClr val="162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Shape 21"/>
          <p:cNvSpPr/>
          <p:nvPr/>
        </p:nvSpPr>
        <p:spPr>
          <a:xfrm>
            <a:off x="6565320" y="3849480"/>
            <a:ext cx="109080" cy="109080"/>
          </a:xfrm>
          <a:prstGeom prst="ellipse">
            <a:avLst/>
          </a:prstGeom>
          <a:solidFill>
            <a:srgbClr val="2e8b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22"/>
          <p:cNvSpPr/>
          <p:nvPr/>
        </p:nvSpPr>
        <p:spPr>
          <a:xfrm>
            <a:off x="6766560" y="3776400"/>
            <a:ext cx="4388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Apache Hop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23"/>
          <p:cNvSpPr/>
          <p:nvPr/>
        </p:nvSpPr>
        <p:spPr>
          <a:xfrm>
            <a:off x="6565320" y="4114800"/>
            <a:ext cx="4571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Logique proche de Kettle/Pentaho ; mieux justifiable dans une stack pédagogique moderne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24"/>
          <p:cNvSpPr/>
          <p:nvPr/>
        </p:nvSpPr>
        <p:spPr>
          <a:xfrm>
            <a:off x="6400800" y="5120640"/>
            <a:ext cx="493704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2a93b"/>
                </a:solidFill>
                <a:latin typeface="Calibri"/>
                <a:ea typeface="Calibri"/>
              </a:rPr>
              <a:t>Avantage clé : </a:t>
            </a:r>
            <a:r>
              <a:rPr b="0" lang="en-US" sz="1200" spc="-1" strike="noStrike">
                <a:solidFill>
                  <a:srgbClr val="e5eef5"/>
                </a:solidFill>
                <a:latin typeface="Calibri"/>
                <a:ea typeface="Calibri"/>
              </a:rPr>
              <a:t>pipelines, workflows et lookups visuels, activement maintenu par l'Apache Software Foundation.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0"/>
          <p:cNvSpPr/>
          <p:nvPr/>
        </p:nvSpPr>
        <p:spPr>
          <a:xfrm>
            <a:off x="548640" y="32004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1c7293"/>
                </a:solidFill>
                <a:latin typeface="Calibri"/>
                <a:ea typeface="Calibri"/>
              </a:rPr>
              <a:t>ÉTAPE 1 · DONNÉES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"/>
          <p:cNvSpPr/>
          <p:nvPr/>
        </p:nvSpPr>
        <p:spPr>
          <a:xfrm>
            <a:off x="548640" y="56700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2430"/>
                </a:solidFill>
                <a:latin typeface="Cambria"/>
                <a:ea typeface="Cambria"/>
              </a:rPr>
              <a:t>Génération des données simulées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2"/>
          <p:cNvSpPr/>
          <p:nvPr/>
        </p:nvSpPr>
        <p:spPr>
          <a:xfrm>
            <a:off x="457200" y="647388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b79"/>
                </a:solidFill>
                <a:latin typeface="Calibri"/>
                <a:ea typeface="Calibri"/>
              </a:rPr>
              <a:t>Projet BI — AL OMRANE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3"/>
          <p:cNvSpPr/>
          <p:nvPr/>
        </p:nvSpPr>
        <p:spPr>
          <a:xfrm>
            <a:off x="11368800" y="64738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b79"/>
                </a:solidFill>
                <a:latin typeface="Calibri"/>
                <a:ea typeface="Calibri"/>
              </a:rPr>
              <a:t>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4"/>
          <p:cNvSpPr/>
          <p:nvPr/>
        </p:nvSpPr>
        <p:spPr>
          <a:xfrm>
            <a:off x="548640" y="160020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ourier New"/>
                <a:ea typeface="Courier New"/>
              </a:rPr>
              <a:t>scripts/generate_data.py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5"/>
          <p:cNvSpPr/>
          <p:nvPr/>
        </p:nvSpPr>
        <p:spPr>
          <a:xfrm>
            <a:off x="548640" y="2011680"/>
            <a:ext cx="539424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b2430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rgbClr val="1b2430"/>
                </a:solidFill>
                <a:latin typeface="Calibri"/>
                <a:ea typeface="Calibri"/>
              </a:rPr>
              <a:t>Bibliothèques : faker, pandas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b2430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rgbClr val="1b2430"/>
                </a:solidFill>
                <a:latin typeface="Calibri"/>
                <a:ea typeface="Calibri"/>
              </a:rPr>
              <a:t>Sortie : 5 fichiers CSV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b2430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rgbClr val="1b2430"/>
                </a:solidFill>
                <a:latin typeface="Calibri"/>
                <a:ea typeface="Calibri"/>
              </a:rPr>
              <a:t>clients.csv · agents_immobilier.csv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b2430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rgbClr val="1b2430"/>
                </a:solidFill>
                <a:latin typeface="Calibri"/>
                <a:ea typeface="Calibri"/>
              </a:rPr>
              <a:t>projets.csv · biens_immobilier.csv · transactions.csv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6"/>
          <p:cNvSpPr/>
          <p:nvPr/>
        </p:nvSpPr>
        <p:spPr>
          <a:xfrm>
            <a:off x="548640" y="3749040"/>
            <a:ext cx="5394240" cy="1690920"/>
          </a:xfrm>
          <a:prstGeom prst="roundRect">
            <a:avLst>
              <a:gd name="adj" fmla="val 3784"/>
            </a:avLst>
          </a:prstGeom>
          <a:solidFill>
            <a:srgbClr val="1024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7"/>
          <p:cNvSpPr/>
          <p:nvPr/>
        </p:nvSpPr>
        <p:spPr>
          <a:xfrm>
            <a:off x="777240" y="3886200"/>
            <a:ext cx="493704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bfefff"/>
                </a:solidFill>
                <a:latin typeface="Courier New"/>
                <a:ea typeface="Courier New"/>
              </a:rPr>
              <a:t>python3 -m venv .venv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bfefff"/>
                </a:solidFill>
                <a:latin typeface="Courier New"/>
                <a:ea typeface="Courier New"/>
              </a:rPr>
              <a:t>source .venv/bin/activate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bfefff"/>
                </a:solidFill>
                <a:latin typeface="Courier New"/>
                <a:ea typeface="Courier New"/>
              </a:rPr>
              <a:t>pip install faker pandas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bfefff"/>
                </a:solidFill>
                <a:latin typeface="Courier New"/>
                <a:ea typeface="Courier New"/>
              </a:rPr>
              <a:t>python scripts/generate_data.py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8"/>
          <p:cNvSpPr/>
          <p:nvPr/>
        </p:nvSpPr>
        <p:spPr>
          <a:xfrm>
            <a:off x="6400800" y="1600200"/>
            <a:ext cx="5211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2430"/>
                </a:solidFill>
                <a:latin typeface="Cambria"/>
                <a:ea typeface="Cambria"/>
              </a:rPr>
              <a:t>Volumes générés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9"/>
          <p:cNvSpPr/>
          <p:nvPr/>
        </p:nvSpPr>
        <p:spPr>
          <a:xfrm>
            <a:off x="6400800" y="2103120"/>
            <a:ext cx="959400" cy="1279440"/>
          </a:xfrm>
          <a:prstGeom prst="roundRect">
            <a:avLst>
              <a:gd name="adj" fmla="val 7619"/>
            </a:avLst>
          </a:prstGeom>
          <a:solidFill>
            <a:srgbClr val="ea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0"/>
          <p:cNvSpPr/>
          <p:nvPr/>
        </p:nvSpPr>
        <p:spPr>
          <a:xfrm>
            <a:off x="6400800" y="2286000"/>
            <a:ext cx="9594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65a82"/>
                </a:solidFill>
                <a:latin typeface="Cambria"/>
                <a:ea typeface="Cambria"/>
              </a:rPr>
              <a:t>100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11"/>
          <p:cNvSpPr/>
          <p:nvPr/>
        </p:nvSpPr>
        <p:spPr>
          <a:xfrm>
            <a:off x="6400800" y="2971800"/>
            <a:ext cx="959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b79"/>
                </a:solidFill>
                <a:latin typeface="Calibri"/>
                <a:ea typeface="Calibri"/>
              </a:rPr>
              <a:t>Clients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12"/>
          <p:cNvSpPr/>
          <p:nvPr/>
        </p:nvSpPr>
        <p:spPr>
          <a:xfrm>
            <a:off x="7525440" y="2103120"/>
            <a:ext cx="959400" cy="1279440"/>
          </a:xfrm>
          <a:prstGeom prst="roundRect">
            <a:avLst>
              <a:gd name="adj" fmla="val 7619"/>
            </a:avLst>
          </a:prstGeom>
          <a:solidFill>
            <a:srgbClr val="ea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13"/>
          <p:cNvSpPr/>
          <p:nvPr/>
        </p:nvSpPr>
        <p:spPr>
          <a:xfrm>
            <a:off x="7525440" y="2286000"/>
            <a:ext cx="9594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65a82"/>
                </a:solidFill>
                <a:latin typeface="Cambria"/>
                <a:ea typeface="Cambria"/>
              </a:rPr>
              <a:t>20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4"/>
          <p:cNvSpPr/>
          <p:nvPr/>
        </p:nvSpPr>
        <p:spPr>
          <a:xfrm>
            <a:off x="7525440" y="2971800"/>
            <a:ext cx="959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b79"/>
                </a:solidFill>
                <a:latin typeface="Calibri"/>
                <a:ea typeface="Calibri"/>
              </a:rPr>
              <a:t>Agents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15"/>
          <p:cNvSpPr/>
          <p:nvPr/>
        </p:nvSpPr>
        <p:spPr>
          <a:xfrm>
            <a:off x="8650080" y="2103120"/>
            <a:ext cx="959400" cy="1279440"/>
          </a:xfrm>
          <a:prstGeom prst="roundRect">
            <a:avLst>
              <a:gd name="adj" fmla="val 7619"/>
            </a:avLst>
          </a:prstGeom>
          <a:solidFill>
            <a:srgbClr val="ea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16"/>
          <p:cNvSpPr/>
          <p:nvPr/>
        </p:nvSpPr>
        <p:spPr>
          <a:xfrm>
            <a:off x="8650080" y="2286000"/>
            <a:ext cx="9594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65a82"/>
                </a:solidFill>
                <a:latin typeface="Cambria"/>
                <a:ea typeface="Cambria"/>
              </a:rPr>
              <a:t>15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17"/>
          <p:cNvSpPr/>
          <p:nvPr/>
        </p:nvSpPr>
        <p:spPr>
          <a:xfrm>
            <a:off x="8650080" y="2971800"/>
            <a:ext cx="959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b79"/>
                </a:solidFill>
                <a:latin typeface="Calibri"/>
                <a:ea typeface="Calibri"/>
              </a:rPr>
              <a:t>Projets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18"/>
          <p:cNvSpPr/>
          <p:nvPr/>
        </p:nvSpPr>
        <p:spPr>
          <a:xfrm>
            <a:off x="6400800" y="3566160"/>
            <a:ext cx="959400" cy="1279440"/>
          </a:xfrm>
          <a:prstGeom prst="roundRect">
            <a:avLst>
              <a:gd name="adj" fmla="val 7619"/>
            </a:avLst>
          </a:prstGeom>
          <a:solidFill>
            <a:srgbClr val="ea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19"/>
          <p:cNvSpPr/>
          <p:nvPr/>
        </p:nvSpPr>
        <p:spPr>
          <a:xfrm>
            <a:off x="6400800" y="3749040"/>
            <a:ext cx="9594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65a82"/>
                </a:solidFill>
                <a:latin typeface="Cambria"/>
                <a:ea typeface="Cambria"/>
              </a:rPr>
              <a:t>200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20"/>
          <p:cNvSpPr/>
          <p:nvPr/>
        </p:nvSpPr>
        <p:spPr>
          <a:xfrm>
            <a:off x="6400800" y="4434840"/>
            <a:ext cx="959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b79"/>
                </a:solidFill>
                <a:latin typeface="Calibri"/>
                <a:ea typeface="Calibri"/>
              </a:rPr>
              <a:t>Biens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21"/>
          <p:cNvSpPr/>
          <p:nvPr/>
        </p:nvSpPr>
        <p:spPr>
          <a:xfrm>
            <a:off x="7525440" y="3566160"/>
            <a:ext cx="959400" cy="127944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22"/>
          <p:cNvSpPr/>
          <p:nvPr/>
        </p:nvSpPr>
        <p:spPr>
          <a:xfrm>
            <a:off x="7525440" y="3749040"/>
            <a:ext cx="9594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mbria"/>
                <a:ea typeface="Cambria"/>
              </a:rPr>
              <a:t>1000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23"/>
          <p:cNvSpPr/>
          <p:nvPr/>
        </p:nvSpPr>
        <p:spPr>
          <a:xfrm>
            <a:off x="7525440" y="4434840"/>
            <a:ext cx="959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5eef5"/>
                </a:solidFill>
                <a:latin typeface="Calibri"/>
                <a:ea typeface="Calibri"/>
              </a:rPr>
              <a:t>Transactions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24"/>
          <p:cNvSpPr/>
          <p:nvPr/>
        </p:nvSpPr>
        <p:spPr>
          <a:xfrm>
            <a:off x="6400800" y="5074920"/>
            <a:ext cx="52113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5b6b79"/>
                </a:solidFill>
                <a:latin typeface="Calibri"/>
                <a:ea typeface="Calibri"/>
              </a:rPr>
              <a:t>Faker permet d'obtenir des données réalistes sans dépendre de données réelles ; le CSV simplifie l'injection initiale dans PostgreSQL.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 0"/>
          <p:cNvSpPr/>
          <p:nvPr/>
        </p:nvSpPr>
        <p:spPr>
          <a:xfrm>
            <a:off x="548640" y="32004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1c7293"/>
                </a:solidFill>
                <a:latin typeface="Calibri"/>
                <a:ea typeface="Calibri"/>
              </a:rPr>
              <a:t>INFRASTRUCTURE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1"/>
          <p:cNvSpPr/>
          <p:nvPr/>
        </p:nvSpPr>
        <p:spPr>
          <a:xfrm>
            <a:off x="548640" y="56700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2430"/>
                </a:solidFill>
                <a:latin typeface="Cambria"/>
                <a:ea typeface="Cambria"/>
              </a:rPr>
              <a:t>Infrastructure Docker et logique des ports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2"/>
          <p:cNvSpPr/>
          <p:nvPr/>
        </p:nvSpPr>
        <p:spPr>
          <a:xfrm>
            <a:off x="457200" y="647388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b79"/>
                </a:solidFill>
                <a:latin typeface="Calibri"/>
                <a:ea typeface="Calibri"/>
              </a:rPr>
              <a:t>Projet BI — AL OMRANE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3"/>
          <p:cNvSpPr/>
          <p:nvPr/>
        </p:nvSpPr>
        <p:spPr>
          <a:xfrm>
            <a:off x="11368800" y="64738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b79"/>
                </a:solidFill>
                <a:latin typeface="Calibri"/>
                <a:ea typeface="Calibri"/>
              </a:rPr>
              <a:t>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4"/>
          <p:cNvSpPr/>
          <p:nvPr/>
        </p:nvSpPr>
        <p:spPr>
          <a:xfrm>
            <a:off x="548640" y="1600200"/>
            <a:ext cx="3611160" cy="1005120"/>
          </a:xfrm>
          <a:prstGeom prst="roundRect">
            <a:avLst>
              <a:gd name="adj" fmla="val 7273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2" name="Image 0" descr="preencoded.png"/>
          <p:cNvPicPr/>
          <p:nvPr/>
        </p:nvPicPr>
        <p:blipFill>
          <a:blip r:embed="rId1"/>
          <a:stretch/>
        </p:blipFill>
        <p:spPr>
          <a:xfrm>
            <a:off x="713160" y="1755720"/>
            <a:ext cx="383400" cy="383400"/>
          </a:xfrm>
          <a:prstGeom prst="rect">
            <a:avLst/>
          </a:prstGeom>
          <a:ln w="0">
            <a:noFill/>
          </a:ln>
        </p:spPr>
      </p:pic>
      <p:sp>
        <p:nvSpPr>
          <p:cNvPr id="173" name="Text 5"/>
          <p:cNvSpPr/>
          <p:nvPr/>
        </p:nvSpPr>
        <p:spPr>
          <a:xfrm>
            <a:off x="1207080" y="1664280"/>
            <a:ext cx="28339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b2430"/>
                </a:solidFill>
                <a:latin typeface="Courier New"/>
                <a:ea typeface="Courier New"/>
              </a:rPr>
              <a:t>alomrane_postgres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6"/>
          <p:cNvSpPr/>
          <p:nvPr/>
        </p:nvSpPr>
        <p:spPr>
          <a:xfrm>
            <a:off x="1207080" y="2011680"/>
            <a:ext cx="28339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5440:5432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7"/>
          <p:cNvSpPr/>
          <p:nvPr/>
        </p:nvSpPr>
        <p:spPr>
          <a:xfrm>
            <a:off x="4343400" y="1600200"/>
            <a:ext cx="3611160" cy="1005120"/>
          </a:xfrm>
          <a:prstGeom prst="roundRect">
            <a:avLst>
              <a:gd name="adj" fmla="val 7273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6" name="Image 1" descr="preencoded.png"/>
          <p:cNvPicPr/>
          <p:nvPr/>
        </p:nvPicPr>
        <p:blipFill>
          <a:blip r:embed="rId2"/>
          <a:stretch/>
        </p:blipFill>
        <p:spPr>
          <a:xfrm>
            <a:off x="4507920" y="1755720"/>
            <a:ext cx="383400" cy="383400"/>
          </a:xfrm>
          <a:prstGeom prst="rect">
            <a:avLst/>
          </a:prstGeom>
          <a:ln w="0">
            <a:noFill/>
          </a:ln>
        </p:spPr>
      </p:pic>
      <p:sp>
        <p:nvSpPr>
          <p:cNvPr id="177" name="Text 8"/>
          <p:cNvSpPr/>
          <p:nvPr/>
        </p:nvSpPr>
        <p:spPr>
          <a:xfrm>
            <a:off x="5001840" y="1664280"/>
            <a:ext cx="28339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b2430"/>
                </a:solidFill>
                <a:latin typeface="Courier New"/>
                <a:ea typeface="Courier New"/>
              </a:rPr>
              <a:t>alomrane_pgadmin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9"/>
          <p:cNvSpPr/>
          <p:nvPr/>
        </p:nvSpPr>
        <p:spPr>
          <a:xfrm>
            <a:off x="5001840" y="2011680"/>
            <a:ext cx="28339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5080:80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10"/>
          <p:cNvSpPr/>
          <p:nvPr/>
        </p:nvSpPr>
        <p:spPr>
          <a:xfrm>
            <a:off x="8138160" y="1600200"/>
            <a:ext cx="3611160" cy="1005120"/>
          </a:xfrm>
          <a:prstGeom prst="roundRect">
            <a:avLst>
              <a:gd name="adj" fmla="val 7273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0" name="Image 2" descr="preencoded.png"/>
          <p:cNvPicPr/>
          <p:nvPr/>
        </p:nvPicPr>
        <p:blipFill>
          <a:blip r:embed="rId3"/>
          <a:stretch/>
        </p:blipFill>
        <p:spPr>
          <a:xfrm>
            <a:off x="8302680" y="1755720"/>
            <a:ext cx="383400" cy="383400"/>
          </a:xfrm>
          <a:prstGeom prst="rect">
            <a:avLst/>
          </a:prstGeom>
          <a:ln w="0">
            <a:noFill/>
          </a:ln>
        </p:spPr>
      </p:pic>
      <p:sp>
        <p:nvSpPr>
          <p:cNvPr id="181" name="Text 11"/>
          <p:cNvSpPr/>
          <p:nvPr/>
        </p:nvSpPr>
        <p:spPr>
          <a:xfrm>
            <a:off x="8796600" y="1664280"/>
            <a:ext cx="28339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b2430"/>
                </a:solidFill>
                <a:latin typeface="Courier New"/>
                <a:ea typeface="Courier New"/>
              </a:rPr>
              <a:t>alomrane_metabase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12"/>
          <p:cNvSpPr/>
          <p:nvPr/>
        </p:nvSpPr>
        <p:spPr>
          <a:xfrm>
            <a:off x="8796600" y="2011680"/>
            <a:ext cx="28339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3000:3000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13"/>
          <p:cNvSpPr/>
          <p:nvPr/>
        </p:nvSpPr>
        <p:spPr>
          <a:xfrm>
            <a:off x="548640" y="2926080"/>
            <a:ext cx="5394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5b6b79"/>
                </a:solidFill>
                <a:latin typeface="Calibri"/>
                <a:ea typeface="Calibri"/>
              </a:rPr>
              <a:t>HOST_PORT : CONTAINER_PORT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14"/>
          <p:cNvSpPr/>
          <p:nvPr/>
        </p:nvSpPr>
        <p:spPr>
          <a:xfrm>
            <a:off x="548640" y="3291840"/>
            <a:ext cx="2376720" cy="913680"/>
          </a:xfrm>
          <a:prstGeom prst="roundRect">
            <a:avLst>
              <a:gd name="adj" fmla="val 7000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15"/>
          <p:cNvSpPr/>
          <p:nvPr/>
        </p:nvSpPr>
        <p:spPr>
          <a:xfrm>
            <a:off x="548640" y="3364920"/>
            <a:ext cx="23767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5440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16"/>
          <p:cNvSpPr/>
          <p:nvPr/>
        </p:nvSpPr>
        <p:spPr>
          <a:xfrm>
            <a:off x="548640" y="3794760"/>
            <a:ext cx="2376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adcfc"/>
                </a:solidFill>
                <a:latin typeface="Calibri"/>
                <a:ea typeface="Calibri"/>
              </a:rPr>
              <a:t>Machine Ubuntu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7" name="Image 3" descr="preencoded.png"/>
          <p:cNvPicPr/>
          <p:nvPr/>
        </p:nvPicPr>
        <p:blipFill>
          <a:blip r:embed="rId4"/>
          <a:stretch/>
        </p:blipFill>
        <p:spPr>
          <a:xfrm>
            <a:off x="3063240" y="361188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188" name="Shape 17"/>
          <p:cNvSpPr/>
          <p:nvPr/>
        </p:nvSpPr>
        <p:spPr>
          <a:xfrm>
            <a:off x="3566160" y="3291840"/>
            <a:ext cx="2376720" cy="913680"/>
          </a:xfrm>
          <a:prstGeom prst="roundRect">
            <a:avLst>
              <a:gd name="adj" fmla="val 7000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18"/>
          <p:cNvSpPr/>
          <p:nvPr/>
        </p:nvSpPr>
        <p:spPr>
          <a:xfrm>
            <a:off x="3566160" y="3364920"/>
            <a:ext cx="23767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5432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19"/>
          <p:cNvSpPr/>
          <p:nvPr/>
        </p:nvSpPr>
        <p:spPr>
          <a:xfrm>
            <a:off x="3566160" y="3794760"/>
            <a:ext cx="2376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5eef5"/>
                </a:solidFill>
                <a:latin typeface="Calibri"/>
                <a:ea typeface="Calibri"/>
              </a:rPr>
              <a:t>Conteneur PostgreSQL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20"/>
          <p:cNvSpPr/>
          <p:nvPr/>
        </p:nvSpPr>
        <p:spPr>
          <a:xfrm>
            <a:off x="548640" y="4480560"/>
            <a:ext cx="543996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b2430"/>
              </a:buClr>
              <a:buFont typeface="Wingdings" charset="2"/>
              <a:buChar char=""/>
            </a:pPr>
            <a:r>
              <a:rPr b="0" lang="en-US" sz="1250" spc="-1" strike="noStrike">
                <a:solidFill>
                  <a:srgbClr val="1b2430"/>
                </a:solidFill>
                <a:latin typeface="Calibri"/>
                <a:ea typeface="Calibri"/>
              </a:rPr>
              <a:t>Depuis Ubuntu : localhost:5440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b2430"/>
              </a:buClr>
              <a:buFont typeface="Wingdings" charset="2"/>
              <a:buChar char=""/>
            </a:pPr>
            <a:r>
              <a:rPr b="0" lang="en-US" sz="1250" spc="-1" strike="noStrike">
                <a:solidFill>
                  <a:srgbClr val="1b2430"/>
                </a:solidFill>
                <a:latin typeface="Calibri"/>
                <a:ea typeface="Calibri"/>
              </a:rPr>
              <a:t>Depuis un autre conteneur Docker : postgres:5432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b2430"/>
              </a:buClr>
              <a:buFont typeface="Wingdings" charset="2"/>
              <a:buChar char=""/>
            </a:pPr>
            <a:r>
              <a:rPr b="0" lang="en-US" sz="1250" spc="-1" strike="noStrike">
                <a:solidFill>
                  <a:srgbClr val="1b2430"/>
                </a:solidFill>
                <a:latin typeface="Calibri"/>
                <a:ea typeface="Calibri"/>
              </a:rPr>
              <a:t>Metabase n'utilise pas localhost — c'est le conteneur lui-même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21"/>
          <p:cNvSpPr/>
          <p:nvPr/>
        </p:nvSpPr>
        <p:spPr>
          <a:xfrm>
            <a:off x="6263640" y="2926080"/>
            <a:ext cx="5348520" cy="1279440"/>
          </a:xfrm>
          <a:prstGeom prst="roundRect">
            <a:avLst>
              <a:gd name="adj" fmla="val 5000"/>
            </a:avLst>
          </a:prstGeom>
          <a:solidFill>
            <a:srgbClr val="1024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22"/>
          <p:cNvSpPr/>
          <p:nvPr/>
        </p:nvSpPr>
        <p:spPr>
          <a:xfrm>
            <a:off x="6492240" y="3063240"/>
            <a:ext cx="48913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bfefff"/>
                </a:solidFill>
                <a:latin typeface="Courier New"/>
                <a:ea typeface="Courier New"/>
              </a:rPr>
              <a:t>cd docker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bfefff"/>
                </a:solidFill>
                <a:latin typeface="Courier New"/>
                <a:ea typeface="Courier New"/>
              </a:rPr>
              <a:t>docker compose up -d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bfefff"/>
                </a:solidFill>
                <a:latin typeface="Courier New"/>
                <a:ea typeface="Courier New"/>
              </a:rPr>
              <a:t>docker ps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23"/>
          <p:cNvSpPr/>
          <p:nvPr/>
        </p:nvSpPr>
        <p:spPr>
          <a:xfrm>
            <a:off x="6263640" y="4343400"/>
            <a:ext cx="5348520" cy="1828080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24"/>
          <p:cNvSpPr/>
          <p:nvPr/>
        </p:nvSpPr>
        <p:spPr>
          <a:xfrm>
            <a:off x="6492240" y="4462200"/>
            <a:ext cx="4891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2a93b"/>
                </a:solidFill>
                <a:latin typeface="Cambria"/>
                <a:ea typeface="Cambria"/>
              </a:rPr>
              <a:t>À retenir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25"/>
          <p:cNvSpPr/>
          <p:nvPr/>
        </p:nvSpPr>
        <p:spPr>
          <a:xfrm>
            <a:off x="6492240" y="4846320"/>
            <a:ext cx="489132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5eef5"/>
                </a:solidFill>
                <a:latin typeface="Calibri"/>
                <a:ea typeface="Calibri"/>
              </a:rPr>
              <a:t>Le conflit n'existe que si deux conteneurs veulent utiliser le même port hôte. Chaque conteneur communique via le nom du service Docker, jamais via localhost vers un autre conteneur.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0"/>
          <p:cNvSpPr/>
          <p:nvPr/>
        </p:nvSpPr>
        <p:spPr>
          <a:xfrm>
            <a:off x="548640" y="32004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1c7293"/>
                </a:solidFill>
                <a:latin typeface="Calibri"/>
                <a:ea typeface="Calibri"/>
              </a:rPr>
              <a:t>MODÈLE DE DONNÉES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1"/>
          <p:cNvSpPr/>
          <p:nvPr/>
        </p:nvSpPr>
        <p:spPr>
          <a:xfrm>
            <a:off x="548640" y="56700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2430"/>
                </a:solidFill>
                <a:latin typeface="Cambria"/>
                <a:ea typeface="Cambria"/>
              </a:rPr>
              <a:t>Base opérationnelle alomrane_source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2"/>
          <p:cNvSpPr/>
          <p:nvPr/>
        </p:nvSpPr>
        <p:spPr>
          <a:xfrm>
            <a:off x="457200" y="647388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b79"/>
                </a:solidFill>
                <a:latin typeface="Calibri"/>
                <a:ea typeface="Calibri"/>
              </a:rPr>
              <a:t>Projet BI — AL OMRANE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3"/>
          <p:cNvSpPr/>
          <p:nvPr/>
        </p:nvSpPr>
        <p:spPr>
          <a:xfrm>
            <a:off x="11368800" y="64738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b79"/>
                </a:solidFill>
                <a:latin typeface="Calibri"/>
                <a:ea typeface="Calibri"/>
              </a:rPr>
              <a:t>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4"/>
          <p:cNvSpPr/>
          <p:nvPr/>
        </p:nvSpPr>
        <p:spPr>
          <a:xfrm>
            <a:off x="548640" y="1645920"/>
            <a:ext cx="4205520" cy="566280"/>
          </a:xfrm>
          <a:prstGeom prst="roundRect">
            <a:avLst>
              <a:gd name="adj" fmla="val 9677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2" name="Image 0" descr="preencoded.png"/>
          <p:cNvPicPr/>
          <p:nvPr/>
        </p:nvPicPr>
        <p:blipFill>
          <a:blip r:embed="rId1"/>
          <a:stretch/>
        </p:blipFill>
        <p:spPr>
          <a:xfrm>
            <a:off x="713160" y="1764720"/>
            <a:ext cx="328320" cy="328320"/>
          </a:xfrm>
          <a:prstGeom prst="rect">
            <a:avLst/>
          </a:prstGeom>
          <a:ln w="0">
            <a:noFill/>
          </a:ln>
        </p:spPr>
      </p:pic>
      <p:sp>
        <p:nvSpPr>
          <p:cNvPr id="203" name="Text 5"/>
          <p:cNvSpPr/>
          <p:nvPr/>
        </p:nvSpPr>
        <p:spPr>
          <a:xfrm>
            <a:off x="1188720" y="1645920"/>
            <a:ext cx="34740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b2430"/>
                </a:solidFill>
                <a:latin typeface="Courier New"/>
                <a:ea typeface="Courier New"/>
              </a:rPr>
              <a:t>clients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6"/>
          <p:cNvSpPr/>
          <p:nvPr/>
        </p:nvSpPr>
        <p:spPr>
          <a:xfrm>
            <a:off x="548640" y="2322720"/>
            <a:ext cx="4205520" cy="566280"/>
          </a:xfrm>
          <a:prstGeom prst="roundRect">
            <a:avLst>
              <a:gd name="adj" fmla="val 9677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5" name="Image 1" descr="preencoded.png"/>
          <p:cNvPicPr/>
          <p:nvPr/>
        </p:nvPicPr>
        <p:blipFill>
          <a:blip r:embed="rId2"/>
          <a:stretch/>
        </p:blipFill>
        <p:spPr>
          <a:xfrm>
            <a:off x="713160" y="2441520"/>
            <a:ext cx="328320" cy="328320"/>
          </a:xfrm>
          <a:prstGeom prst="rect">
            <a:avLst/>
          </a:prstGeom>
          <a:ln w="0">
            <a:noFill/>
          </a:ln>
        </p:spPr>
      </p:pic>
      <p:sp>
        <p:nvSpPr>
          <p:cNvPr id="206" name="Text 7"/>
          <p:cNvSpPr/>
          <p:nvPr/>
        </p:nvSpPr>
        <p:spPr>
          <a:xfrm>
            <a:off x="1188720" y="2322720"/>
            <a:ext cx="34740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b2430"/>
                </a:solidFill>
                <a:latin typeface="Courier New"/>
                <a:ea typeface="Courier New"/>
              </a:rPr>
              <a:t>agents_immobilier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8"/>
          <p:cNvSpPr/>
          <p:nvPr/>
        </p:nvSpPr>
        <p:spPr>
          <a:xfrm>
            <a:off x="548640" y="2999160"/>
            <a:ext cx="4205520" cy="566280"/>
          </a:xfrm>
          <a:prstGeom prst="roundRect">
            <a:avLst>
              <a:gd name="adj" fmla="val 9677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8" name="Image 2" descr="preencoded.png"/>
          <p:cNvPicPr/>
          <p:nvPr/>
        </p:nvPicPr>
        <p:blipFill>
          <a:blip r:embed="rId3"/>
          <a:stretch/>
        </p:blipFill>
        <p:spPr>
          <a:xfrm>
            <a:off x="713160" y="3117960"/>
            <a:ext cx="328320" cy="328320"/>
          </a:xfrm>
          <a:prstGeom prst="rect">
            <a:avLst/>
          </a:prstGeom>
          <a:ln w="0">
            <a:noFill/>
          </a:ln>
        </p:spPr>
      </p:pic>
      <p:sp>
        <p:nvSpPr>
          <p:cNvPr id="209" name="Text 9"/>
          <p:cNvSpPr/>
          <p:nvPr/>
        </p:nvSpPr>
        <p:spPr>
          <a:xfrm>
            <a:off x="1188720" y="2999160"/>
            <a:ext cx="34740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b2430"/>
                </a:solidFill>
                <a:latin typeface="Courier New"/>
                <a:ea typeface="Courier New"/>
              </a:rPr>
              <a:t>projets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10"/>
          <p:cNvSpPr/>
          <p:nvPr/>
        </p:nvSpPr>
        <p:spPr>
          <a:xfrm>
            <a:off x="548640" y="3675960"/>
            <a:ext cx="4205520" cy="566280"/>
          </a:xfrm>
          <a:prstGeom prst="roundRect">
            <a:avLst>
              <a:gd name="adj" fmla="val 9677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1" name="Image 3" descr="preencoded.png"/>
          <p:cNvPicPr/>
          <p:nvPr/>
        </p:nvPicPr>
        <p:blipFill>
          <a:blip r:embed="rId4"/>
          <a:stretch/>
        </p:blipFill>
        <p:spPr>
          <a:xfrm>
            <a:off x="713160" y="3794760"/>
            <a:ext cx="328320" cy="328320"/>
          </a:xfrm>
          <a:prstGeom prst="rect">
            <a:avLst/>
          </a:prstGeom>
          <a:ln w="0">
            <a:noFill/>
          </a:ln>
        </p:spPr>
      </p:pic>
      <p:sp>
        <p:nvSpPr>
          <p:cNvPr id="212" name="Text 11"/>
          <p:cNvSpPr/>
          <p:nvPr/>
        </p:nvSpPr>
        <p:spPr>
          <a:xfrm>
            <a:off x="1188720" y="3675960"/>
            <a:ext cx="34740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b2430"/>
                </a:solidFill>
                <a:latin typeface="Courier New"/>
                <a:ea typeface="Courier New"/>
              </a:rPr>
              <a:t>biens_immobilier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12"/>
          <p:cNvSpPr/>
          <p:nvPr/>
        </p:nvSpPr>
        <p:spPr>
          <a:xfrm>
            <a:off x="548640" y="4352400"/>
            <a:ext cx="4205520" cy="566280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4" name="Image 4" descr="preencoded.png"/>
          <p:cNvPicPr/>
          <p:nvPr/>
        </p:nvPicPr>
        <p:blipFill>
          <a:blip r:embed="rId5"/>
          <a:stretch/>
        </p:blipFill>
        <p:spPr>
          <a:xfrm>
            <a:off x="713160" y="4471560"/>
            <a:ext cx="328320" cy="328320"/>
          </a:xfrm>
          <a:prstGeom prst="rect">
            <a:avLst/>
          </a:prstGeom>
          <a:ln w="0">
            <a:noFill/>
          </a:ln>
        </p:spPr>
      </p:pic>
      <p:sp>
        <p:nvSpPr>
          <p:cNvPr id="215" name="Text 13"/>
          <p:cNvSpPr/>
          <p:nvPr/>
        </p:nvSpPr>
        <p:spPr>
          <a:xfrm>
            <a:off x="1188720" y="4352400"/>
            <a:ext cx="34740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ourier New"/>
                <a:ea typeface="Courier New"/>
              </a:rPr>
              <a:t>transactions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14"/>
          <p:cNvSpPr/>
          <p:nvPr/>
        </p:nvSpPr>
        <p:spPr>
          <a:xfrm>
            <a:off x="5120640" y="1645920"/>
            <a:ext cx="6491520" cy="3153960"/>
          </a:xfrm>
          <a:prstGeom prst="roundRect">
            <a:avLst>
              <a:gd name="adj" fmla="val 2319"/>
            </a:avLst>
          </a:prstGeom>
          <a:solidFill>
            <a:srgbClr val="ea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15"/>
          <p:cNvSpPr/>
          <p:nvPr/>
        </p:nvSpPr>
        <p:spPr>
          <a:xfrm>
            <a:off x="5394960" y="1828800"/>
            <a:ext cx="5942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65a82"/>
                </a:solidFill>
                <a:latin typeface="Cambria"/>
                <a:ea typeface="Cambria"/>
              </a:rPr>
              <a:t>Relations métier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16"/>
          <p:cNvSpPr/>
          <p:nvPr/>
        </p:nvSpPr>
        <p:spPr>
          <a:xfrm>
            <a:off x="5394960" y="2286000"/>
            <a:ext cx="59428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b2430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rgbClr val="1b2430"/>
                </a:solidFill>
                <a:latin typeface="Calibri"/>
                <a:ea typeface="Calibri"/>
              </a:rPr>
              <a:t>Un bien appartient à un projet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b2430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rgbClr val="1b2430"/>
                </a:solidFill>
                <a:latin typeface="Calibri"/>
                <a:ea typeface="Calibri"/>
              </a:rPr>
              <a:t>Une transaction relie un client, un agent et un bien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b2430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rgbClr val="1b2430"/>
                </a:solidFill>
                <a:latin typeface="Calibri"/>
                <a:ea typeface="Calibri"/>
              </a:rPr>
              <a:t>La base source représente le système transactionnel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17"/>
          <p:cNvSpPr/>
          <p:nvPr/>
        </p:nvSpPr>
        <p:spPr>
          <a:xfrm>
            <a:off x="5394960" y="3703320"/>
            <a:ext cx="5942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b6b79"/>
                </a:solidFill>
                <a:latin typeface="Calibri"/>
                <a:ea typeface="Calibri"/>
              </a:rPr>
              <a:t>Cette base n'est pas conçue pour le reporting : l'analyse multi-axes y serait plus coûteuse.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18"/>
          <p:cNvSpPr/>
          <p:nvPr/>
        </p:nvSpPr>
        <p:spPr>
          <a:xfrm>
            <a:off x="5120640" y="4983480"/>
            <a:ext cx="6491520" cy="1462320"/>
          </a:xfrm>
          <a:prstGeom prst="roundRect">
            <a:avLst>
              <a:gd name="adj" fmla="val 4375"/>
            </a:avLst>
          </a:prstGeom>
          <a:solidFill>
            <a:srgbClr val="1024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19"/>
          <p:cNvSpPr/>
          <p:nvPr/>
        </p:nvSpPr>
        <p:spPr>
          <a:xfrm>
            <a:off x="5349240" y="5120640"/>
            <a:ext cx="603432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bfefff"/>
                </a:solidFill>
                <a:latin typeface="Courier New"/>
                <a:ea typeface="Courier New"/>
              </a:rPr>
              <a:t>docker exec -it alomrane_postgres \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bfefff"/>
                </a:solidFill>
                <a:latin typeface="Courier New"/>
                <a:ea typeface="Courier New"/>
              </a:rPr>
              <a:t>  </a:t>
            </a:r>
            <a:r>
              <a:rPr b="0" lang="en-US" sz="1250" spc="-1" strike="noStrike">
                <a:solidFill>
                  <a:srgbClr val="bfefff"/>
                </a:solidFill>
                <a:latin typeface="Courier New"/>
                <a:ea typeface="Courier New"/>
              </a:rPr>
              <a:t>psql -U amulvaro -d alomrane_source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bfefff"/>
                </a:solidFill>
                <a:latin typeface="Courier New"/>
                <a:ea typeface="Courier New"/>
              </a:rPr>
              <a:t>\dt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bfefff"/>
                </a:solidFill>
                <a:latin typeface="Courier New"/>
                <a:ea typeface="Courier New"/>
              </a:rPr>
              <a:t>SELECT COUNT(*) FROM transactions;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 0"/>
          <p:cNvSpPr/>
          <p:nvPr/>
        </p:nvSpPr>
        <p:spPr>
          <a:xfrm>
            <a:off x="548640" y="32004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1c7293"/>
                </a:solidFill>
                <a:latin typeface="Calibri"/>
                <a:ea typeface="Calibri"/>
              </a:rPr>
              <a:t>MODÉLISATION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1"/>
          <p:cNvSpPr/>
          <p:nvPr/>
        </p:nvSpPr>
        <p:spPr>
          <a:xfrm>
            <a:off x="548640" y="56700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2430"/>
                </a:solidFill>
                <a:latin typeface="Cambria"/>
                <a:ea typeface="Cambria"/>
              </a:rPr>
              <a:t>Data Warehouse alomrane_dw et modèle en étoile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2"/>
          <p:cNvSpPr/>
          <p:nvPr/>
        </p:nvSpPr>
        <p:spPr>
          <a:xfrm>
            <a:off x="457200" y="647388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b79"/>
                </a:solidFill>
                <a:latin typeface="Calibri"/>
                <a:ea typeface="Calibri"/>
              </a:rPr>
              <a:t>Projet BI — AL OMRANE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3"/>
          <p:cNvSpPr/>
          <p:nvPr/>
        </p:nvSpPr>
        <p:spPr>
          <a:xfrm>
            <a:off x="11368800" y="64738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b79"/>
                </a:solidFill>
                <a:latin typeface="Calibri"/>
                <a:ea typeface="Calibri"/>
              </a:rPr>
              <a:t>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4"/>
          <p:cNvSpPr/>
          <p:nvPr/>
        </p:nvSpPr>
        <p:spPr>
          <a:xfrm>
            <a:off x="2788920" y="3566160"/>
            <a:ext cx="1919520" cy="91368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5"/>
          <p:cNvSpPr/>
          <p:nvPr/>
        </p:nvSpPr>
        <p:spPr>
          <a:xfrm>
            <a:off x="2788920" y="3566160"/>
            <a:ext cx="19195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fact_ventes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6"/>
          <p:cNvSpPr/>
          <p:nvPr/>
        </p:nvSpPr>
        <p:spPr>
          <a:xfrm>
            <a:off x="2788920" y="404172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cadcfc"/>
                </a:solidFill>
                <a:latin typeface="Calibri"/>
                <a:ea typeface="Calibri"/>
              </a:rPr>
              <a:t>montant · nombre_transaction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7"/>
          <p:cNvSpPr/>
          <p:nvPr/>
        </p:nvSpPr>
        <p:spPr>
          <a:xfrm>
            <a:off x="3749040" y="2286000"/>
            <a:ext cx="360" cy="1737360"/>
          </a:xfrm>
          <a:prstGeom prst="line">
            <a:avLst/>
          </a:prstGeom>
          <a:ln w="19050">
            <a:solidFill>
              <a:srgbClr val="b9c9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8"/>
          <p:cNvSpPr/>
          <p:nvPr/>
        </p:nvSpPr>
        <p:spPr>
          <a:xfrm>
            <a:off x="1371600" y="4023360"/>
            <a:ext cx="2377440" cy="360"/>
          </a:xfrm>
          <a:prstGeom prst="line">
            <a:avLst/>
          </a:prstGeom>
          <a:ln w="19050">
            <a:solidFill>
              <a:srgbClr val="b9c9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9"/>
          <p:cNvSpPr/>
          <p:nvPr/>
        </p:nvSpPr>
        <p:spPr>
          <a:xfrm>
            <a:off x="3749040" y="4023360"/>
            <a:ext cx="2377440" cy="360"/>
          </a:xfrm>
          <a:prstGeom prst="line">
            <a:avLst/>
          </a:prstGeom>
          <a:ln w="19050">
            <a:solidFill>
              <a:srgbClr val="b9c9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10"/>
          <p:cNvSpPr/>
          <p:nvPr/>
        </p:nvSpPr>
        <p:spPr>
          <a:xfrm>
            <a:off x="2560320" y="4023360"/>
            <a:ext cx="1188720" cy="1737360"/>
          </a:xfrm>
          <a:prstGeom prst="line">
            <a:avLst/>
          </a:prstGeom>
          <a:ln w="19050">
            <a:solidFill>
              <a:srgbClr val="b9c9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11"/>
          <p:cNvSpPr/>
          <p:nvPr/>
        </p:nvSpPr>
        <p:spPr>
          <a:xfrm>
            <a:off x="3749040" y="4023360"/>
            <a:ext cx="1188720" cy="1737360"/>
          </a:xfrm>
          <a:prstGeom prst="line">
            <a:avLst/>
          </a:prstGeom>
          <a:ln w="19050">
            <a:solidFill>
              <a:srgbClr val="b9c9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12"/>
          <p:cNvSpPr/>
          <p:nvPr/>
        </p:nvSpPr>
        <p:spPr>
          <a:xfrm>
            <a:off x="3017520" y="1993320"/>
            <a:ext cx="1462320" cy="584640"/>
          </a:xfrm>
          <a:prstGeom prst="roundRect">
            <a:avLst>
              <a:gd name="adj" fmla="val 10938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13"/>
          <p:cNvSpPr/>
          <p:nvPr/>
        </p:nvSpPr>
        <p:spPr>
          <a:xfrm>
            <a:off x="3017520" y="1993320"/>
            <a:ext cx="146232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dim_temps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14"/>
          <p:cNvSpPr/>
          <p:nvPr/>
        </p:nvSpPr>
        <p:spPr>
          <a:xfrm>
            <a:off x="640080" y="3730680"/>
            <a:ext cx="1462320" cy="584640"/>
          </a:xfrm>
          <a:prstGeom prst="roundRect">
            <a:avLst>
              <a:gd name="adj" fmla="val 10938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15"/>
          <p:cNvSpPr/>
          <p:nvPr/>
        </p:nvSpPr>
        <p:spPr>
          <a:xfrm>
            <a:off x="640080" y="3730680"/>
            <a:ext cx="146232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dim_client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16"/>
          <p:cNvSpPr/>
          <p:nvPr/>
        </p:nvSpPr>
        <p:spPr>
          <a:xfrm>
            <a:off x="5394960" y="3730680"/>
            <a:ext cx="1462320" cy="584640"/>
          </a:xfrm>
          <a:prstGeom prst="roundRect">
            <a:avLst>
              <a:gd name="adj" fmla="val 10938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 17"/>
          <p:cNvSpPr/>
          <p:nvPr/>
        </p:nvSpPr>
        <p:spPr>
          <a:xfrm>
            <a:off x="5394960" y="3730680"/>
            <a:ext cx="146232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dim_agent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18"/>
          <p:cNvSpPr/>
          <p:nvPr/>
        </p:nvSpPr>
        <p:spPr>
          <a:xfrm>
            <a:off x="1828800" y="5468040"/>
            <a:ext cx="1462320" cy="584640"/>
          </a:xfrm>
          <a:prstGeom prst="roundRect">
            <a:avLst>
              <a:gd name="adj" fmla="val 10938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19"/>
          <p:cNvSpPr/>
          <p:nvPr/>
        </p:nvSpPr>
        <p:spPr>
          <a:xfrm>
            <a:off x="1828800" y="5468040"/>
            <a:ext cx="146232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dim_bien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20"/>
          <p:cNvSpPr/>
          <p:nvPr/>
        </p:nvSpPr>
        <p:spPr>
          <a:xfrm>
            <a:off x="4206240" y="5468040"/>
            <a:ext cx="1462320" cy="584640"/>
          </a:xfrm>
          <a:prstGeom prst="roundRect">
            <a:avLst>
              <a:gd name="adj" fmla="val 10938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Text 21"/>
          <p:cNvSpPr/>
          <p:nvPr/>
        </p:nvSpPr>
        <p:spPr>
          <a:xfrm>
            <a:off x="4206240" y="5468040"/>
            <a:ext cx="146232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dim_projet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22"/>
          <p:cNvSpPr/>
          <p:nvPr/>
        </p:nvSpPr>
        <p:spPr>
          <a:xfrm>
            <a:off x="7223760" y="1645920"/>
            <a:ext cx="4388400" cy="4434120"/>
          </a:xfrm>
          <a:prstGeom prst="roundRect">
            <a:avLst>
              <a:gd name="adj" fmla="val 1667"/>
            </a:avLst>
          </a:prstGeom>
          <a:solidFill>
            <a:srgbClr val="ea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23"/>
          <p:cNvSpPr/>
          <p:nvPr/>
        </p:nvSpPr>
        <p:spPr>
          <a:xfrm>
            <a:off x="7452360" y="1828800"/>
            <a:ext cx="3931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65a82"/>
                </a:solidFill>
                <a:latin typeface="Cambria"/>
                <a:ea typeface="Cambria"/>
              </a:rPr>
              <a:t>Logique analytique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24"/>
          <p:cNvSpPr/>
          <p:nvPr/>
        </p:nvSpPr>
        <p:spPr>
          <a:xfrm>
            <a:off x="7452360" y="2286000"/>
            <a:ext cx="393120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b2430"/>
              </a:buClr>
              <a:buFont typeface="Wingdings" charset="2"/>
              <a:buChar char=""/>
            </a:pPr>
            <a:r>
              <a:rPr b="0" lang="en-US" sz="1250" spc="-1" strike="noStrike">
                <a:solidFill>
                  <a:srgbClr val="1b2430"/>
                </a:solidFill>
                <a:latin typeface="Calibri"/>
                <a:ea typeface="Calibri"/>
              </a:rPr>
              <a:t>La table de faits porte les mesures : montant, nombre_transaction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b2430"/>
              </a:buClr>
              <a:buFont typeface="Wingdings" charset="2"/>
              <a:buChar char=""/>
            </a:pPr>
            <a:r>
              <a:rPr b="0" lang="en-US" sz="1250" spc="-1" strike="noStrike">
                <a:solidFill>
                  <a:srgbClr val="1b2430"/>
                </a:solidFill>
                <a:latin typeface="Calibri"/>
                <a:ea typeface="Calibri"/>
              </a:rPr>
              <a:t>Les dimensions donnent le contexte : qui, quoi, où, quand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25"/>
          <p:cNvSpPr/>
          <p:nvPr/>
        </p:nvSpPr>
        <p:spPr>
          <a:xfrm>
            <a:off x="7452360" y="3611880"/>
            <a:ext cx="3931920" cy="360"/>
          </a:xfrm>
          <a:prstGeom prst="line">
            <a:avLst/>
          </a:prstGeom>
          <a:ln w="12700">
            <a:solidFill>
              <a:srgbClr val="c9dc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8" name="Image 0" descr="preencoded.png"/>
          <p:cNvPicPr/>
          <p:nvPr/>
        </p:nvPicPr>
        <p:blipFill>
          <a:blip r:embed="rId1"/>
          <a:stretch/>
        </p:blipFill>
        <p:spPr>
          <a:xfrm>
            <a:off x="7452360" y="379476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249" name="Text 26"/>
          <p:cNvSpPr/>
          <p:nvPr/>
        </p:nvSpPr>
        <p:spPr>
          <a:xfrm>
            <a:off x="7909560" y="3813120"/>
            <a:ext cx="3382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b2430"/>
                </a:solidFill>
                <a:latin typeface="Cambria"/>
                <a:ea typeface="Cambria"/>
              </a:rPr>
              <a:t>Point clé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27"/>
          <p:cNvSpPr/>
          <p:nvPr/>
        </p:nvSpPr>
        <p:spPr>
          <a:xfrm>
            <a:off x="7452360" y="4251960"/>
            <a:ext cx="39312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b2430"/>
                </a:solidFill>
                <a:latin typeface="Calibri"/>
                <a:ea typeface="Calibri"/>
              </a:rPr>
              <a:t>On passe des IDs métier (id_client, id_agent…) à des clés substituts (sk_client, sk_agent…).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28"/>
          <p:cNvSpPr/>
          <p:nvPr/>
        </p:nvSpPr>
        <p:spPr>
          <a:xfrm>
            <a:off x="7452360" y="5212080"/>
            <a:ext cx="39312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5b6b79"/>
                </a:solidFill>
                <a:latin typeface="Calibri"/>
                <a:ea typeface="Calibri"/>
              </a:rPr>
              <a:t>dim_temps est essentielle pour les analyses mensuelles, trimestrielles et annuelles.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 0"/>
          <p:cNvSpPr/>
          <p:nvPr/>
        </p:nvSpPr>
        <p:spPr>
          <a:xfrm>
            <a:off x="548640" y="32004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1c7293"/>
                </a:solidFill>
                <a:latin typeface="Calibri"/>
                <a:ea typeface="Calibri"/>
              </a:rPr>
              <a:t>ALIMENTATION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1"/>
          <p:cNvSpPr/>
          <p:nvPr/>
        </p:nvSpPr>
        <p:spPr>
          <a:xfrm>
            <a:off x="548640" y="56700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2430"/>
                </a:solidFill>
                <a:latin typeface="Cambria"/>
                <a:ea typeface="Cambria"/>
              </a:rPr>
              <a:t>Alimentation de la dimension temps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2"/>
          <p:cNvSpPr/>
          <p:nvPr/>
        </p:nvSpPr>
        <p:spPr>
          <a:xfrm>
            <a:off x="457200" y="647388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b79"/>
                </a:solidFill>
                <a:latin typeface="Calibri"/>
                <a:ea typeface="Calibri"/>
              </a:rPr>
              <a:t>Projet BI — AL OMRANE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3"/>
          <p:cNvSpPr/>
          <p:nvPr/>
        </p:nvSpPr>
        <p:spPr>
          <a:xfrm>
            <a:off x="11368800" y="64738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b79"/>
                </a:solidFill>
                <a:latin typeface="Calibri"/>
                <a:ea typeface="Calibri"/>
              </a:rPr>
              <a:t>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4"/>
          <p:cNvSpPr/>
          <p:nvPr/>
        </p:nvSpPr>
        <p:spPr>
          <a:xfrm>
            <a:off x="548640" y="1645920"/>
            <a:ext cx="539424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b2430"/>
              </a:buClr>
              <a:buFont typeface="Wingdings" charset="2"/>
              <a:buChar char=""/>
            </a:pPr>
            <a:r>
              <a:rPr b="0" lang="en-US" sz="1350" spc="-1" strike="noStrike">
                <a:solidFill>
                  <a:srgbClr val="1b2430"/>
                </a:solidFill>
                <a:latin typeface="Calibri"/>
                <a:ea typeface="Calibri"/>
              </a:rPr>
              <a:t>Table dim_temps remplie directement en SQL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b2430"/>
              </a:buClr>
              <a:buFont typeface="Wingdings" charset="2"/>
              <a:buChar char=""/>
            </a:pPr>
            <a:r>
              <a:rPr b="0" lang="en-US" sz="1350" spc="-1" strike="noStrike">
                <a:solidFill>
                  <a:srgbClr val="1b2430"/>
                </a:solidFill>
                <a:latin typeface="Calibri"/>
                <a:ea typeface="Calibri"/>
              </a:rPr>
              <a:t>Période couverte : du 2021-01-01 au 2025-12-31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b2430"/>
              </a:buClr>
              <a:buFont typeface="Wingdings" charset="2"/>
              <a:buChar char=""/>
            </a:pPr>
            <a:r>
              <a:rPr b="0" lang="en-US" sz="1350" spc="-1" strike="noStrike">
                <a:solidFill>
                  <a:srgbClr val="1b2430"/>
                </a:solidFill>
                <a:latin typeface="Calibri"/>
                <a:ea typeface="Calibri"/>
              </a:rPr>
              <a:t>Attributs : date_complete, jour, mois, annee, trimestre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5"/>
          <p:cNvSpPr/>
          <p:nvPr/>
        </p:nvSpPr>
        <p:spPr>
          <a:xfrm>
            <a:off x="548640" y="3291840"/>
            <a:ext cx="5394240" cy="867960"/>
          </a:xfrm>
          <a:prstGeom prst="roundRect">
            <a:avLst>
              <a:gd name="adj" fmla="val 8421"/>
            </a:avLst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8" name="Image 0" descr="preencoded.png"/>
          <p:cNvPicPr/>
          <p:nvPr/>
        </p:nvPicPr>
        <p:blipFill>
          <a:blip r:embed="rId1"/>
          <a:stretch/>
        </p:blipFill>
        <p:spPr>
          <a:xfrm>
            <a:off x="777240" y="3502080"/>
            <a:ext cx="456480" cy="456480"/>
          </a:xfrm>
          <a:prstGeom prst="rect">
            <a:avLst/>
          </a:prstGeom>
          <a:ln w="0">
            <a:noFill/>
          </a:ln>
        </p:spPr>
      </p:pic>
      <p:sp>
        <p:nvSpPr>
          <p:cNvPr id="259" name="Text 6"/>
          <p:cNvSpPr/>
          <p:nvPr/>
        </p:nvSpPr>
        <p:spPr>
          <a:xfrm>
            <a:off x="1371600" y="3337560"/>
            <a:ext cx="44341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2a93b"/>
                </a:solidFill>
                <a:latin typeface="Calibri"/>
                <a:ea typeface="Calibri"/>
              </a:rPr>
              <a:t>PostgreSQL </a:t>
            </a:r>
            <a:r>
              <a:rPr b="0" lang="en-US" sz="1150" spc="-1" strike="noStrike">
                <a:solidFill>
                  <a:srgbClr val="e5eef5"/>
                </a:solidFill>
                <a:latin typeface="Calibri"/>
                <a:ea typeface="Calibri"/>
              </a:rPr>
              <a:t>generate_series() génère la plage de dates complète automatiquement.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7"/>
          <p:cNvSpPr/>
          <p:nvPr/>
        </p:nvSpPr>
        <p:spPr>
          <a:xfrm>
            <a:off x="548640" y="4434840"/>
            <a:ext cx="53942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b2430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rgbClr val="1b2430"/>
                </a:solidFill>
                <a:latin typeface="Calibri"/>
                <a:ea typeface="Calibri"/>
              </a:rPr>
              <a:t>Axe d'analyse commun à toutes les ventes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b2430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rgbClr val="1b2430"/>
                </a:solidFill>
                <a:latin typeface="Calibri"/>
                <a:ea typeface="Calibri"/>
              </a:rPr>
              <a:t>Regroupements immédiats par mois, trimestre ou année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8"/>
          <p:cNvSpPr/>
          <p:nvPr/>
        </p:nvSpPr>
        <p:spPr>
          <a:xfrm>
            <a:off x="6217920" y="1645920"/>
            <a:ext cx="5394240" cy="3885480"/>
          </a:xfrm>
          <a:prstGeom prst="roundRect">
            <a:avLst>
              <a:gd name="adj" fmla="val 1647"/>
            </a:avLst>
          </a:prstGeom>
          <a:solidFill>
            <a:srgbClr val="1024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 9"/>
          <p:cNvSpPr/>
          <p:nvPr/>
        </p:nvSpPr>
        <p:spPr>
          <a:xfrm>
            <a:off x="6446520" y="1783080"/>
            <a:ext cx="4937040" cy="361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INSERT INTO dim_temps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(date_complete, jour, mois, annee, trimestre)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SELECT d::date,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EXTRACT(DAY FROM d)::int,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EXTRACT(MONTH FROM d)::int,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EXTRACT(YEAR FROM d)::int,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EXTRACT(QUARTER FROM d)::int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FROM generate_series(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'2021-01-01'::date, '2025-12-31'::date,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interval '1 day') AS d;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ext 0"/>
          <p:cNvSpPr/>
          <p:nvPr/>
        </p:nvSpPr>
        <p:spPr>
          <a:xfrm>
            <a:off x="548640" y="32004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1c7293"/>
                </a:solidFill>
                <a:latin typeface="Calibri"/>
                <a:ea typeface="Calibri"/>
              </a:rPr>
              <a:t>ETL · APACHE HOP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1"/>
          <p:cNvSpPr/>
          <p:nvPr/>
        </p:nvSpPr>
        <p:spPr>
          <a:xfrm>
            <a:off x="548640" y="56700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2430"/>
                </a:solidFill>
                <a:latin typeface="Cambria"/>
                <a:ea typeface="Cambria"/>
              </a:rPr>
              <a:t>Apache Hop — chargement des dimensions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2"/>
          <p:cNvSpPr/>
          <p:nvPr/>
        </p:nvSpPr>
        <p:spPr>
          <a:xfrm>
            <a:off x="457200" y="647388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b79"/>
                </a:solidFill>
                <a:latin typeface="Calibri"/>
                <a:ea typeface="Calibri"/>
              </a:rPr>
              <a:t>Projet BI — AL OMRANE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3"/>
          <p:cNvSpPr/>
          <p:nvPr/>
        </p:nvSpPr>
        <p:spPr>
          <a:xfrm>
            <a:off x="11368800" y="64738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b79"/>
                </a:solidFill>
                <a:latin typeface="Calibri"/>
                <a:ea typeface="Calibri"/>
              </a:rPr>
              <a:t>10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4"/>
          <p:cNvSpPr/>
          <p:nvPr/>
        </p:nvSpPr>
        <p:spPr>
          <a:xfrm>
            <a:off x="548640" y="1691640"/>
            <a:ext cx="2376720" cy="77652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 5"/>
          <p:cNvSpPr/>
          <p:nvPr/>
        </p:nvSpPr>
        <p:spPr>
          <a:xfrm>
            <a:off x="548640" y="1691640"/>
            <a:ext cx="23767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Table Input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9" name="Image 0" descr="preencoded.png"/>
          <p:cNvPicPr/>
          <p:nvPr/>
        </p:nvPicPr>
        <p:blipFill>
          <a:blip r:embed="rId1"/>
          <a:stretch/>
        </p:blipFill>
        <p:spPr>
          <a:xfrm>
            <a:off x="3063240" y="195696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270" name="Shape 6"/>
          <p:cNvSpPr/>
          <p:nvPr/>
        </p:nvSpPr>
        <p:spPr>
          <a:xfrm>
            <a:off x="3566160" y="1691640"/>
            <a:ext cx="2376720" cy="77652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7"/>
          <p:cNvSpPr/>
          <p:nvPr/>
        </p:nvSpPr>
        <p:spPr>
          <a:xfrm>
            <a:off x="3566160" y="1691640"/>
            <a:ext cx="23767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Table Output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8"/>
          <p:cNvSpPr/>
          <p:nvPr/>
        </p:nvSpPr>
        <p:spPr>
          <a:xfrm>
            <a:off x="548640" y="2788920"/>
            <a:ext cx="4571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2430"/>
                </a:solidFill>
                <a:latin typeface="Cambria"/>
                <a:ea typeface="Cambria"/>
              </a:rPr>
              <a:t>Pipelines créés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9"/>
          <p:cNvSpPr/>
          <p:nvPr/>
        </p:nvSpPr>
        <p:spPr>
          <a:xfrm>
            <a:off x="548640" y="3246120"/>
            <a:ext cx="5577120" cy="566280"/>
          </a:xfrm>
          <a:prstGeom prst="roundRect">
            <a:avLst>
              <a:gd name="adj" fmla="val 9677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10"/>
          <p:cNvSpPr/>
          <p:nvPr/>
        </p:nvSpPr>
        <p:spPr>
          <a:xfrm>
            <a:off x="713160" y="3246120"/>
            <a:ext cx="25596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65a82"/>
                </a:solidFill>
                <a:latin typeface="Courier New"/>
                <a:ea typeface="Courier New"/>
              </a:rPr>
              <a:t>load_dim_client.hpl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11"/>
          <p:cNvSpPr/>
          <p:nvPr/>
        </p:nvSpPr>
        <p:spPr>
          <a:xfrm>
            <a:off x="3337560" y="3246120"/>
            <a:ext cx="26967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b2430"/>
                </a:solidFill>
                <a:latin typeface="Calibri"/>
                <a:ea typeface="Calibri"/>
              </a:rPr>
              <a:t>clients → dim_client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12"/>
          <p:cNvSpPr/>
          <p:nvPr/>
        </p:nvSpPr>
        <p:spPr>
          <a:xfrm>
            <a:off x="548640" y="3904560"/>
            <a:ext cx="5577120" cy="566280"/>
          </a:xfrm>
          <a:prstGeom prst="roundRect">
            <a:avLst>
              <a:gd name="adj" fmla="val 9677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13"/>
          <p:cNvSpPr/>
          <p:nvPr/>
        </p:nvSpPr>
        <p:spPr>
          <a:xfrm>
            <a:off x="713160" y="3904560"/>
            <a:ext cx="25596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65a82"/>
                </a:solidFill>
                <a:latin typeface="Courier New"/>
                <a:ea typeface="Courier New"/>
              </a:rPr>
              <a:t>load_dim_agents.hpl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14"/>
          <p:cNvSpPr/>
          <p:nvPr/>
        </p:nvSpPr>
        <p:spPr>
          <a:xfrm>
            <a:off x="3337560" y="3904560"/>
            <a:ext cx="26967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b2430"/>
                </a:solidFill>
                <a:latin typeface="Calibri"/>
                <a:ea typeface="Calibri"/>
              </a:rPr>
              <a:t>agents_immobilier → dim_agent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15"/>
          <p:cNvSpPr/>
          <p:nvPr/>
        </p:nvSpPr>
        <p:spPr>
          <a:xfrm>
            <a:off x="548640" y="4563000"/>
            <a:ext cx="5577120" cy="566280"/>
          </a:xfrm>
          <a:prstGeom prst="roundRect">
            <a:avLst>
              <a:gd name="adj" fmla="val 9677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 16"/>
          <p:cNvSpPr/>
          <p:nvPr/>
        </p:nvSpPr>
        <p:spPr>
          <a:xfrm>
            <a:off x="713160" y="4563000"/>
            <a:ext cx="25596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65a82"/>
                </a:solidFill>
                <a:latin typeface="Courier New"/>
                <a:ea typeface="Courier New"/>
              </a:rPr>
              <a:t>load_dim_projets.hpl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17"/>
          <p:cNvSpPr/>
          <p:nvPr/>
        </p:nvSpPr>
        <p:spPr>
          <a:xfrm>
            <a:off x="3337560" y="4563000"/>
            <a:ext cx="26967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b2430"/>
                </a:solidFill>
                <a:latin typeface="Calibri"/>
                <a:ea typeface="Calibri"/>
              </a:rPr>
              <a:t>projets → dim_projet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18"/>
          <p:cNvSpPr/>
          <p:nvPr/>
        </p:nvSpPr>
        <p:spPr>
          <a:xfrm>
            <a:off x="548640" y="5221080"/>
            <a:ext cx="5577120" cy="566280"/>
          </a:xfrm>
          <a:prstGeom prst="roundRect">
            <a:avLst>
              <a:gd name="adj" fmla="val 9677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19"/>
          <p:cNvSpPr/>
          <p:nvPr/>
        </p:nvSpPr>
        <p:spPr>
          <a:xfrm>
            <a:off x="713160" y="5221080"/>
            <a:ext cx="25596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65a82"/>
                </a:solidFill>
                <a:latin typeface="Courier New"/>
                <a:ea typeface="Courier New"/>
              </a:rPr>
              <a:t>load_dim_bien.hpl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20"/>
          <p:cNvSpPr/>
          <p:nvPr/>
        </p:nvSpPr>
        <p:spPr>
          <a:xfrm>
            <a:off x="3337560" y="5221080"/>
            <a:ext cx="26967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b2430"/>
                </a:solidFill>
                <a:latin typeface="Calibri"/>
                <a:ea typeface="Calibri"/>
              </a:rPr>
              <a:t>biens_immobilier → dim_bien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21"/>
          <p:cNvSpPr/>
          <p:nvPr/>
        </p:nvSpPr>
        <p:spPr>
          <a:xfrm>
            <a:off x="6492240" y="1691640"/>
            <a:ext cx="5119920" cy="4159800"/>
          </a:xfrm>
          <a:prstGeom prst="roundRect">
            <a:avLst>
              <a:gd name="adj" fmla="val 1758"/>
            </a:avLst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 22"/>
          <p:cNvSpPr/>
          <p:nvPr/>
        </p:nvSpPr>
        <p:spPr>
          <a:xfrm>
            <a:off x="6766560" y="1920240"/>
            <a:ext cx="4571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2a93b"/>
                </a:solidFill>
                <a:latin typeface="Cambria"/>
                <a:ea typeface="Cambria"/>
              </a:rPr>
              <a:t>À retenir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23"/>
          <p:cNvSpPr/>
          <p:nvPr/>
        </p:nvSpPr>
        <p:spPr>
          <a:xfrm>
            <a:off x="6766560" y="2377440"/>
            <a:ext cx="4571280" cy="31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e5eef5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rgbClr val="e5eef5"/>
                </a:solidFill>
                <a:latin typeface="Calibri"/>
                <a:ea typeface="Calibri"/>
              </a:rPr>
              <a:t>Les dimensions simples sont chargées par copie contrôlée depuis la base source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e5eef5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rgbClr val="e5eef5"/>
                </a:solidFill>
                <a:latin typeface="Calibri"/>
                <a:ea typeface="Calibri"/>
              </a:rPr>
              <a:t>Les surrogate keys (sk_*) ne sont pas envoyées depuis Hop : elles sont générées automatiquement par PostgreSQL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e5eef5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rgbClr val="e5eef5"/>
                </a:solidFill>
                <a:latin typeface="Calibri"/>
                <a:ea typeface="Calibri"/>
              </a:rPr>
              <a:t>Cette étape doit être terminée avant la table de faits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 0"/>
          <p:cNvSpPr/>
          <p:nvPr/>
        </p:nvSpPr>
        <p:spPr>
          <a:xfrm>
            <a:off x="548640" y="32004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1c7293"/>
                </a:solidFill>
                <a:latin typeface="Calibri"/>
                <a:ea typeface="Calibri"/>
              </a:rPr>
              <a:t>ETL · APACHE HOP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1"/>
          <p:cNvSpPr/>
          <p:nvPr/>
        </p:nvSpPr>
        <p:spPr>
          <a:xfrm>
            <a:off x="548640" y="56700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2430"/>
                </a:solidFill>
                <a:latin typeface="Cambria"/>
                <a:ea typeface="Cambria"/>
              </a:rPr>
              <a:t>Apache Hop — pipeline load_fact_ventes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2"/>
          <p:cNvSpPr/>
          <p:nvPr/>
        </p:nvSpPr>
        <p:spPr>
          <a:xfrm>
            <a:off x="457200" y="647388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b79"/>
                </a:solidFill>
                <a:latin typeface="Calibri"/>
                <a:ea typeface="Calibri"/>
              </a:rPr>
              <a:t>Projet BI — AL OMRANE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3"/>
          <p:cNvSpPr/>
          <p:nvPr/>
        </p:nvSpPr>
        <p:spPr>
          <a:xfrm>
            <a:off x="11368800" y="64738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b79"/>
                </a:solidFill>
                <a:latin typeface="Calibri"/>
                <a:ea typeface="Calibri"/>
              </a:rPr>
              <a:t>11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4"/>
          <p:cNvSpPr/>
          <p:nvPr/>
        </p:nvSpPr>
        <p:spPr>
          <a:xfrm>
            <a:off x="548640" y="155448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65a82"/>
                </a:solidFill>
                <a:latin typeface="Cambria"/>
                <a:ea typeface="Cambria"/>
              </a:rPr>
              <a:t>Objectif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5"/>
          <p:cNvSpPr/>
          <p:nvPr/>
        </p:nvSpPr>
        <p:spPr>
          <a:xfrm>
            <a:off x="548640" y="1920240"/>
            <a:ext cx="54856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b2430"/>
              </a:buClr>
              <a:buFont typeface="Wingdings" charset="2"/>
              <a:buChar char=""/>
            </a:pPr>
            <a:r>
              <a:rPr b="0" lang="en-US" sz="1250" spc="-1" strike="noStrike">
                <a:solidFill>
                  <a:srgbClr val="1b2430"/>
                </a:solidFill>
                <a:latin typeface="Calibri"/>
                <a:ea typeface="Calibri"/>
              </a:rPr>
              <a:t>Charger fact_ventes à partir de transactions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b2430"/>
              </a:buClr>
              <a:buFont typeface="Wingdings" charset="2"/>
              <a:buChar char=""/>
            </a:pPr>
            <a:r>
              <a:rPr b="0" lang="en-US" sz="1250" spc="-1" strike="noStrike">
                <a:solidFill>
                  <a:srgbClr val="1b2430"/>
                </a:solidFill>
                <a:latin typeface="Calibri"/>
                <a:ea typeface="Calibri"/>
              </a:rPr>
              <a:t>Convertir les IDs métier en clés substituts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6"/>
          <p:cNvSpPr/>
          <p:nvPr/>
        </p:nvSpPr>
        <p:spPr>
          <a:xfrm>
            <a:off x="548640" y="2880360"/>
            <a:ext cx="5577120" cy="1782360"/>
          </a:xfrm>
          <a:prstGeom prst="roundRect">
            <a:avLst>
              <a:gd name="adj" fmla="val 3590"/>
            </a:avLst>
          </a:prstGeom>
          <a:solidFill>
            <a:srgbClr val="1024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 7"/>
          <p:cNvSpPr/>
          <p:nvPr/>
        </p:nvSpPr>
        <p:spPr>
          <a:xfrm>
            <a:off x="777240" y="3017520"/>
            <a:ext cx="511992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SELECT t.id_client, t.id_agent, t.id_bien,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       </a:t>
            </a: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b.id_projet, t.date_transaction,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       </a:t>
            </a: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t.montant, 1 AS nombre_transaction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FROM transactions 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JOIN biens_immobilier b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ON b.id_bien = t.id_bien;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8"/>
          <p:cNvSpPr/>
          <p:nvPr/>
        </p:nvSpPr>
        <p:spPr>
          <a:xfrm>
            <a:off x="548640" y="4800600"/>
            <a:ext cx="5577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b6b79"/>
                </a:solidFill>
                <a:latin typeface="Calibri"/>
                <a:ea typeface="Calibri"/>
              </a:rPr>
              <a:t>Le JOIN récupère id_projet, lié au bien immobilier.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9"/>
          <p:cNvSpPr/>
          <p:nvPr/>
        </p:nvSpPr>
        <p:spPr>
          <a:xfrm>
            <a:off x="6400800" y="1554480"/>
            <a:ext cx="5211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65a82"/>
                </a:solidFill>
                <a:latin typeface="Cambria"/>
                <a:ea typeface="Cambria"/>
              </a:rPr>
              <a:t>Chaîne de lookups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10"/>
          <p:cNvSpPr/>
          <p:nvPr/>
        </p:nvSpPr>
        <p:spPr>
          <a:xfrm>
            <a:off x="6400800" y="1965960"/>
            <a:ext cx="2102400" cy="456480"/>
          </a:xfrm>
          <a:prstGeom prst="roundRect">
            <a:avLst>
              <a:gd name="adj" fmla="val 12000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11"/>
          <p:cNvSpPr/>
          <p:nvPr/>
        </p:nvSpPr>
        <p:spPr>
          <a:xfrm>
            <a:off x="6400800" y="1965960"/>
            <a:ext cx="2102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b2430"/>
                </a:solidFill>
                <a:latin typeface="Courier New"/>
                <a:ea typeface="Courier New"/>
              </a:rPr>
              <a:t>id_client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0" name="Image 0" descr="preencoded.png"/>
          <p:cNvPicPr/>
          <p:nvPr/>
        </p:nvPicPr>
        <p:blipFill>
          <a:blip r:embed="rId1"/>
          <a:stretch/>
        </p:blipFill>
        <p:spPr>
          <a:xfrm>
            <a:off x="8613720" y="205740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301" name="Shape 12"/>
          <p:cNvSpPr/>
          <p:nvPr/>
        </p:nvSpPr>
        <p:spPr>
          <a:xfrm>
            <a:off x="9006840" y="1965960"/>
            <a:ext cx="2102400" cy="45648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 13"/>
          <p:cNvSpPr/>
          <p:nvPr/>
        </p:nvSpPr>
        <p:spPr>
          <a:xfrm>
            <a:off x="9006840" y="1965960"/>
            <a:ext cx="2102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ourier New"/>
                <a:ea typeface="Courier New"/>
              </a:rPr>
              <a:t>sk_client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14"/>
          <p:cNvSpPr/>
          <p:nvPr/>
        </p:nvSpPr>
        <p:spPr>
          <a:xfrm>
            <a:off x="6400800" y="2496240"/>
            <a:ext cx="2102400" cy="456480"/>
          </a:xfrm>
          <a:prstGeom prst="roundRect">
            <a:avLst>
              <a:gd name="adj" fmla="val 12000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15"/>
          <p:cNvSpPr/>
          <p:nvPr/>
        </p:nvSpPr>
        <p:spPr>
          <a:xfrm>
            <a:off x="6400800" y="2496240"/>
            <a:ext cx="2102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b2430"/>
                </a:solidFill>
                <a:latin typeface="Courier New"/>
                <a:ea typeface="Courier New"/>
              </a:rPr>
              <a:t>id_agent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5" name="Image 1" descr="preencoded.png"/>
          <p:cNvPicPr/>
          <p:nvPr/>
        </p:nvPicPr>
        <p:blipFill>
          <a:blip r:embed="rId2"/>
          <a:stretch/>
        </p:blipFill>
        <p:spPr>
          <a:xfrm>
            <a:off x="8613720" y="2587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306" name="Shape 16"/>
          <p:cNvSpPr/>
          <p:nvPr/>
        </p:nvSpPr>
        <p:spPr>
          <a:xfrm>
            <a:off x="9006840" y="2496240"/>
            <a:ext cx="2102400" cy="45648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 17"/>
          <p:cNvSpPr/>
          <p:nvPr/>
        </p:nvSpPr>
        <p:spPr>
          <a:xfrm>
            <a:off x="9006840" y="2496240"/>
            <a:ext cx="2102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ourier New"/>
                <a:ea typeface="Courier New"/>
              </a:rPr>
              <a:t>sk_agent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18"/>
          <p:cNvSpPr/>
          <p:nvPr/>
        </p:nvSpPr>
        <p:spPr>
          <a:xfrm>
            <a:off x="6400800" y="3026520"/>
            <a:ext cx="2102400" cy="456480"/>
          </a:xfrm>
          <a:prstGeom prst="roundRect">
            <a:avLst>
              <a:gd name="adj" fmla="val 12000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 19"/>
          <p:cNvSpPr/>
          <p:nvPr/>
        </p:nvSpPr>
        <p:spPr>
          <a:xfrm>
            <a:off x="6400800" y="3026520"/>
            <a:ext cx="2102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b2430"/>
                </a:solidFill>
                <a:latin typeface="Courier New"/>
                <a:ea typeface="Courier New"/>
              </a:rPr>
              <a:t>id_bien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0" name="Image 2" descr="preencoded.png"/>
          <p:cNvPicPr/>
          <p:nvPr/>
        </p:nvPicPr>
        <p:blipFill>
          <a:blip r:embed="rId3"/>
          <a:stretch/>
        </p:blipFill>
        <p:spPr>
          <a:xfrm>
            <a:off x="8613720" y="311796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311" name="Shape 20"/>
          <p:cNvSpPr/>
          <p:nvPr/>
        </p:nvSpPr>
        <p:spPr>
          <a:xfrm>
            <a:off x="9006840" y="3026520"/>
            <a:ext cx="2102400" cy="45648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Text 21"/>
          <p:cNvSpPr/>
          <p:nvPr/>
        </p:nvSpPr>
        <p:spPr>
          <a:xfrm>
            <a:off x="9006840" y="3026520"/>
            <a:ext cx="2102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ourier New"/>
                <a:ea typeface="Courier New"/>
              </a:rPr>
              <a:t>sk_bien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22"/>
          <p:cNvSpPr/>
          <p:nvPr/>
        </p:nvSpPr>
        <p:spPr>
          <a:xfrm>
            <a:off x="6400800" y="3557160"/>
            <a:ext cx="2102400" cy="456480"/>
          </a:xfrm>
          <a:prstGeom prst="roundRect">
            <a:avLst>
              <a:gd name="adj" fmla="val 12000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23"/>
          <p:cNvSpPr/>
          <p:nvPr/>
        </p:nvSpPr>
        <p:spPr>
          <a:xfrm>
            <a:off x="6400800" y="3557160"/>
            <a:ext cx="2102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b2430"/>
                </a:solidFill>
                <a:latin typeface="Courier New"/>
                <a:ea typeface="Courier New"/>
              </a:rPr>
              <a:t>id_projet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5" name="Image 3" descr="preencoded.png"/>
          <p:cNvPicPr/>
          <p:nvPr/>
        </p:nvPicPr>
        <p:blipFill>
          <a:blip r:embed="rId4"/>
          <a:stretch/>
        </p:blipFill>
        <p:spPr>
          <a:xfrm>
            <a:off x="8613720" y="364860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316" name="Shape 24"/>
          <p:cNvSpPr/>
          <p:nvPr/>
        </p:nvSpPr>
        <p:spPr>
          <a:xfrm>
            <a:off x="9006840" y="3557160"/>
            <a:ext cx="2102400" cy="45648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25"/>
          <p:cNvSpPr/>
          <p:nvPr/>
        </p:nvSpPr>
        <p:spPr>
          <a:xfrm>
            <a:off x="9006840" y="3557160"/>
            <a:ext cx="2102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ourier New"/>
                <a:ea typeface="Courier New"/>
              </a:rPr>
              <a:t>sk_projet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26"/>
          <p:cNvSpPr/>
          <p:nvPr/>
        </p:nvSpPr>
        <p:spPr>
          <a:xfrm>
            <a:off x="6400800" y="4087440"/>
            <a:ext cx="2102400" cy="456480"/>
          </a:xfrm>
          <a:prstGeom prst="roundRect">
            <a:avLst>
              <a:gd name="adj" fmla="val 12000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27"/>
          <p:cNvSpPr/>
          <p:nvPr/>
        </p:nvSpPr>
        <p:spPr>
          <a:xfrm>
            <a:off x="6400800" y="4087440"/>
            <a:ext cx="2102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b2430"/>
                </a:solidFill>
                <a:latin typeface="Courier New"/>
                <a:ea typeface="Courier New"/>
              </a:rPr>
              <a:t>date_transaction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0" name="Image 4" descr="preencoded.png"/>
          <p:cNvPicPr/>
          <p:nvPr/>
        </p:nvPicPr>
        <p:blipFill>
          <a:blip r:embed="rId5"/>
          <a:stretch/>
        </p:blipFill>
        <p:spPr>
          <a:xfrm>
            <a:off x="8613720" y="41788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321" name="Shape 28"/>
          <p:cNvSpPr/>
          <p:nvPr/>
        </p:nvSpPr>
        <p:spPr>
          <a:xfrm>
            <a:off x="9006840" y="4087440"/>
            <a:ext cx="2102400" cy="45648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Text 29"/>
          <p:cNvSpPr/>
          <p:nvPr/>
        </p:nvSpPr>
        <p:spPr>
          <a:xfrm>
            <a:off x="9006840" y="4087440"/>
            <a:ext cx="2102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ourier New"/>
                <a:ea typeface="Courier New"/>
              </a:rPr>
              <a:t>sk_temps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30"/>
          <p:cNvSpPr/>
          <p:nvPr/>
        </p:nvSpPr>
        <p:spPr>
          <a:xfrm>
            <a:off x="6400800" y="4709160"/>
            <a:ext cx="5211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65a82"/>
                </a:solidFill>
                <a:latin typeface="Calibri"/>
                <a:ea typeface="Calibri"/>
              </a:rPr>
              <a:t>Database Lookup</a:t>
            </a:r>
            <a:r>
              <a:rPr b="0" lang="en-US" sz="1150" spc="-1" strike="noStrike">
                <a:solidFill>
                  <a:srgbClr val="1b2430"/>
                </a:solidFill>
                <a:latin typeface="Calibri"/>
                <a:ea typeface="Calibri"/>
              </a:rPr>
              <a:t> : ajoute la valeur de lookup au flux pour chaque clé métier.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31"/>
          <p:cNvSpPr/>
          <p:nvPr/>
        </p:nvSpPr>
        <p:spPr>
          <a:xfrm>
            <a:off x="6400800" y="5257800"/>
            <a:ext cx="52113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b6b79"/>
                </a:solidFill>
                <a:latin typeface="Calibri"/>
                <a:ea typeface="Calibri"/>
              </a:rPr>
              <a:t>Insertion finale dans fact_ventes : sk_client, sk_agent, sk_projet, sk_bien, sk_temps, montant, nombre_transaction.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ext 0"/>
          <p:cNvSpPr/>
          <p:nvPr/>
        </p:nvSpPr>
        <p:spPr>
          <a:xfrm>
            <a:off x="548640" y="32004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1c7293"/>
                </a:solidFill>
                <a:latin typeface="Calibri"/>
                <a:ea typeface="Calibri"/>
              </a:rPr>
              <a:t>ORCHESTRATION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 1"/>
          <p:cNvSpPr/>
          <p:nvPr/>
        </p:nvSpPr>
        <p:spPr>
          <a:xfrm>
            <a:off x="548640" y="56700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2430"/>
                </a:solidFill>
                <a:latin typeface="Cambria"/>
                <a:ea typeface="Cambria"/>
              </a:rPr>
              <a:t>Workflow d'orchestration alomrane_etl.hwf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2"/>
          <p:cNvSpPr/>
          <p:nvPr/>
        </p:nvSpPr>
        <p:spPr>
          <a:xfrm>
            <a:off x="457200" y="647388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b79"/>
                </a:solidFill>
                <a:latin typeface="Calibri"/>
                <a:ea typeface="Calibri"/>
              </a:rPr>
              <a:t>Projet BI — AL OMRANE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3"/>
          <p:cNvSpPr/>
          <p:nvPr/>
        </p:nvSpPr>
        <p:spPr>
          <a:xfrm>
            <a:off x="11368800" y="64738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b79"/>
                </a:solidFill>
                <a:latin typeface="Calibri"/>
                <a:ea typeface="Calibri"/>
              </a:rPr>
              <a:t>12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4"/>
          <p:cNvSpPr/>
          <p:nvPr/>
        </p:nvSpPr>
        <p:spPr>
          <a:xfrm>
            <a:off x="457200" y="1828800"/>
            <a:ext cx="1599480" cy="127944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 5"/>
          <p:cNvSpPr/>
          <p:nvPr/>
        </p:nvSpPr>
        <p:spPr>
          <a:xfrm>
            <a:off x="502920" y="1828800"/>
            <a:ext cx="150804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Start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1" name="Image 0" descr="preencoded.png"/>
          <p:cNvPicPr/>
          <p:nvPr/>
        </p:nvPicPr>
        <p:blipFill>
          <a:blip r:embed="rId1"/>
          <a:stretch/>
        </p:blipFill>
        <p:spPr>
          <a:xfrm>
            <a:off x="2066400" y="2350080"/>
            <a:ext cx="200520" cy="200520"/>
          </a:xfrm>
          <a:prstGeom prst="rect">
            <a:avLst/>
          </a:prstGeom>
          <a:ln w="0">
            <a:noFill/>
          </a:ln>
        </p:spPr>
      </p:pic>
      <p:sp>
        <p:nvSpPr>
          <p:cNvPr id="332" name="Shape 6"/>
          <p:cNvSpPr/>
          <p:nvPr/>
        </p:nvSpPr>
        <p:spPr>
          <a:xfrm>
            <a:off x="2258640" y="1828800"/>
            <a:ext cx="1599480" cy="127944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7"/>
          <p:cNvSpPr/>
          <p:nvPr/>
        </p:nvSpPr>
        <p:spPr>
          <a:xfrm>
            <a:off x="2304360" y="1828800"/>
            <a:ext cx="150804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b2430"/>
                </a:solidFill>
                <a:latin typeface="Calibri"/>
                <a:ea typeface="Calibri"/>
              </a:rPr>
              <a:t>load_dim_client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4" name="Image 1" descr="preencoded.png"/>
          <p:cNvPicPr/>
          <p:nvPr/>
        </p:nvPicPr>
        <p:blipFill>
          <a:blip r:embed="rId2"/>
          <a:stretch/>
        </p:blipFill>
        <p:spPr>
          <a:xfrm>
            <a:off x="3867840" y="2350080"/>
            <a:ext cx="200520" cy="200520"/>
          </a:xfrm>
          <a:prstGeom prst="rect">
            <a:avLst/>
          </a:prstGeom>
          <a:ln w="0">
            <a:noFill/>
          </a:ln>
        </p:spPr>
      </p:pic>
      <p:sp>
        <p:nvSpPr>
          <p:cNvPr id="335" name="Shape 8"/>
          <p:cNvSpPr/>
          <p:nvPr/>
        </p:nvSpPr>
        <p:spPr>
          <a:xfrm>
            <a:off x="4060080" y="1828800"/>
            <a:ext cx="1599480" cy="127944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9"/>
          <p:cNvSpPr/>
          <p:nvPr/>
        </p:nvSpPr>
        <p:spPr>
          <a:xfrm>
            <a:off x="4105800" y="1828800"/>
            <a:ext cx="150804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b2430"/>
                </a:solidFill>
                <a:latin typeface="Calibri"/>
                <a:ea typeface="Calibri"/>
              </a:rPr>
              <a:t>load_dim_agents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7" name="Image 2" descr="preencoded.png"/>
          <p:cNvPicPr/>
          <p:nvPr/>
        </p:nvPicPr>
        <p:blipFill>
          <a:blip r:embed="rId3"/>
          <a:stretch/>
        </p:blipFill>
        <p:spPr>
          <a:xfrm>
            <a:off x="5669280" y="2350080"/>
            <a:ext cx="200520" cy="200520"/>
          </a:xfrm>
          <a:prstGeom prst="rect">
            <a:avLst/>
          </a:prstGeom>
          <a:ln w="0">
            <a:noFill/>
          </a:ln>
        </p:spPr>
      </p:pic>
      <p:sp>
        <p:nvSpPr>
          <p:cNvPr id="338" name="Shape 10"/>
          <p:cNvSpPr/>
          <p:nvPr/>
        </p:nvSpPr>
        <p:spPr>
          <a:xfrm>
            <a:off x="5861160" y="1828800"/>
            <a:ext cx="1599480" cy="127944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11"/>
          <p:cNvSpPr/>
          <p:nvPr/>
        </p:nvSpPr>
        <p:spPr>
          <a:xfrm>
            <a:off x="5906880" y="1828800"/>
            <a:ext cx="150804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b2430"/>
                </a:solidFill>
                <a:latin typeface="Calibri"/>
                <a:ea typeface="Calibri"/>
              </a:rPr>
              <a:t>load_dim_projets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0" name="Image 3" descr="preencoded.png"/>
          <p:cNvPicPr/>
          <p:nvPr/>
        </p:nvPicPr>
        <p:blipFill>
          <a:blip r:embed="rId4"/>
          <a:stretch/>
        </p:blipFill>
        <p:spPr>
          <a:xfrm>
            <a:off x="7470720" y="2350080"/>
            <a:ext cx="200520" cy="200520"/>
          </a:xfrm>
          <a:prstGeom prst="rect">
            <a:avLst/>
          </a:prstGeom>
          <a:ln w="0">
            <a:noFill/>
          </a:ln>
        </p:spPr>
      </p:pic>
      <p:sp>
        <p:nvSpPr>
          <p:cNvPr id="341" name="Shape 12"/>
          <p:cNvSpPr/>
          <p:nvPr/>
        </p:nvSpPr>
        <p:spPr>
          <a:xfrm>
            <a:off x="7662600" y="1828800"/>
            <a:ext cx="1599480" cy="127944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13"/>
          <p:cNvSpPr/>
          <p:nvPr/>
        </p:nvSpPr>
        <p:spPr>
          <a:xfrm>
            <a:off x="7708320" y="1828800"/>
            <a:ext cx="150804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b2430"/>
                </a:solidFill>
                <a:latin typeface="Calibri"/>
                <a:ea typeface="Calibri"/>
              </a:rPr>
              <a:t>load_dim_bien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3" name="Image 4" descr="preencoded.png"/>
          <p:cNvPicPr/>
          <p:nvPr/>
        </p:nvPicPr>
        <p:blipFill>
          <a:blip r:embed="rId5"/>
          <a:stretch/>
        </p:blipFill>
        <p:spPr>
          <a:xfrm>
            <a:off x="9272160" y="2350080"/>
            <a:ext cx="200520" cy="200520"/>
          </a:xfrm>
          <a:prstGeom prst="rect">
            <a:avLst/>
          </a:prstGeom>
          <a:ln w="0">
            <a:noFill/>
          </a:ln>
        </p:spPr>
      </p:pic>
      <p:sp>
        <p:nvSpPr>
          <p:cNvPr id="344" name="Shape 14"/>
          <p:cNvSpPr/>
          <p:nvPr/>
        </p:nvSpPr>
        <p:spPr>
          <a:xfrm>
            <a:off x="9464040" y="1828800"/>
            <a:ext cx="1599480" cy="127944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Text 15"/>
          <p:cNvSpPr/>
          <p:nvPr/>
        </p:nvSpPr>
        <p:spPr>
          <a:xfrm>
            <a:off x="9509760" y="1828800"/>
            <a:ext cx="150804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load_fact_ventes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16"/>
          <p:cNvSpPr/>
          <p:nvPr/>
        </p:nvSpPr>
        <p:spPr>
          <a:xfrm>
            <a:off x="548640" y="3703320"/>
            <a:ext cx="11063520" cy="2331000"/>
          </a:xfrm>
          <a:prstGeom prst="roundRect">
            <a:avLst>
              <a:gd name="adj" fmla="val 3137"/>
            </a:avLst>
          </a:prstGeom>
          <a:solidFill>
            <a:srgbClr val="ea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 17"/>
          <p:cNvSpPr/>
          <p:nvPr/>
        </p:nvSpPr>
        <p:spPr>
          <a:xfrm>
            <a:off x="822960" y="388620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65a82"/>
                </a:solidFill>
                <a:latin typeface="Cambria"/>
                <a:ea typeface="Cambria"/>
              </a:rPr>
              <a:t>Pourquoi cet ordre ?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18"/>
          <p:cNvSpPr/>
          <p:nvPr/>
        </p:nvSpPr>
        <p:spPr>
          <a:xfrm>
            <a:off x="822960" y="4343400"/>
            <a:ext cx="1005768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b2430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rgbClr val="1b2430"/>
                </a:solidFill>
                <a:latin typeface="Calibri"/>
                <a:ea typeface="Calibri"/>
              </a:rPr>
              <a:t>Les dimensions doivent exister avant les lookups de la table de faits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b2430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rgbClr val="1b2430"/>
                </a:solidFill>
                <a:latin typeface="Calibri"/>
                <a:ea typeface="Calibri"/>
              </a:rPr>
              <a:t>Sinon, les clés substituts (sk_*) ne peuvent pas être retrouvées correctement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1b2430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rgbClr val="1b2430"/>
                </a:solidFill>
                <a:latin typeface="Calibri"/>
                <a:ea typeface="Calibri"/>
              </a:rPr>
              <a:t>La table de faits, volontairement, s'exécute en dernier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Text 0"/>
          <p:cNvSpPr/>
          <p:nvPr/>
        </p:nvSpPr>
        <p:spPr>
          <a:xfrm>
            <a:off x="548640" y="32004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1c7293"/>
                </a:solidFill>
                <a:latin typeface="Calibri"/>
                <a:ea typeface="Calibri"/>
              </a:rPr>
              <a:t>VALIDATION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 1"/>
          <p:cNvSpPr/>
          <p:nvPr/>
        </p:nvSpPr>
        <p:spPr>
          <a:xfrm>
            <a:off x="548640" y="56700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2430"/>
                </a:solidFill>
                <a:latin typeface="Cambria"/>
                <a:ea typeface="Cambria"/>
              </a:rPr>
              <a:t>Contrôles techniques et vérification des chargements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2"/>
          <p:cNvSpPr/>
          <p:nvPr/>
        </p:nvSpPr>
        <p:spPr>
          <a:xfrm>
            <a:off x="457200" y="647388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b79"/>
                </a:solidFill>
                <a:latin typeface="Calibri"/>
                <a:ea typeface="Calibri"/>
              </a:rPr>
              <a:t>Projet BI — AL OMRANE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3"/>
          <p:cNvSpPr/>
          <p:nvPr/>
        </p:nvSpPr>
        <p:spPr>
          <a:xfrm>
            <a:off x="11368800" y="64738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b79"/>
                </a:solidFill>
                <a:latin typeface="Calibri"/>
                <a:ea typeface="Calibri"/>
              </a:rPr>
              <a:t>13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4"/>
          <p:cNvSpPr/>
          <p:nvPr/>
        </p:nvSpPr>
        <p:spPr>
          <a:xfrm>
            <a:off x="548640" y="1600200"/>
            <a:ext cx="5485680" cy="4479840"/>
          </a:xfrm>
          <a:prstGeom prst="roundRect">
            <a:avLst>
              <a:gd name="adj" fmla="val 1429"/>
            </a:avLst>
          </a:prstGeom>
          <a:solidFill>
            <a:srgbClr val="1024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 5"/>
          <p:cNvSpPr/>
          <p:nvPr/>
        </p:nvSpPr>
        <p:spPr>
          <a:xfrm>
            <a:off x="777240" y="1737360"/>
            <a:ext cx="5028480" cy="420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fefff"/>
                </a:solidFill>
                <a:latin typeface="Courier New"/>
                <a:ea typeface="Courier New"/>
              </a:rPr>
              <a:t>docker exec -it alomrane_postgres \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fefff"/>
                </a:solidFill>
                <a:latin typeface="Courier New"/>
                <a:ea typeface="Courier New"/>
              </a:rPr>
              <a:t>  </a:t>
            </a:r>
            <a:r>
              <a:rPr b="0" lang="en-US" sz="1200" spc="-1" strike="noStrike">
                <a:solidFill>
                  <a:srgbClr val="bfefff"/>
                </a:solidFill>
                <a:latin typeface="Courier New"/>
                <a:ea typeface="Courier New"/>
              </a:rPr>
              <a:t>psql -U amulvaro -d alomrane_dw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fefff"/>
                </a:solidFill>
                <a:latin typeface="Courier New"/>
                <a:ea typeface="Courier New"/>
              </a:rPr>
              <a:t>\dt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fefff"/>
                </a:solidFill>
                <a:latin typeface="Courier New"/>
                <a:ea typeface="Courier New"/>
              </a:rPr>
              <a:t>SELECT COUNT(*) FROM dim_client;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fefff"/>
                </a:solidFill>
                <a:latin typeface="Courier New"/>
                <a:ea typeface="Courier New"/>
              </a:rPr>
              <a:t>SELECT COUNT(*) FROM dim_agent;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fefff"/>
                </a:solidFill>
                <a:latin typeface="Courier New"/>
                <a:ea typeface="Courier New"/>
              </a:rPr>
              <a:t>SELECT COUNT(*) FROM dim_projet;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fefff"/>
                </a:solidFill>
                <a:latin typeface="Courier New"/>
                <a:ea typeface="Courier New"/>
              </a:rPr>
              <a:t>SELECT COUNT(*) FROM dim_bien;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fefff"/>
                </a:solidFill>
                <a:latin typeface="Courier New"/>
                <a:ea typeface="Courier New"/>
              </a:rPr>
              <a:t>SELECT COUNT(*) FROM dim_temps;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fefff"/>
                </a:solidFill>
                <a:latin typeface="Courier New"/>
                <a:ea typeface="Courier New"/>
              </a:rPr>
              <a:t>SELECT COUNT(*) FROM fact_ventes;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 6"/>
          <p:cNvSpPr/>
          <p:nvPr/>
        </p:nvSpPr>
        <p:spPr>
          <a:xfrm>
            <a:off x="6355080" y="1600200"/>
            <a:ext cx="5302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2430"/>
                </a:solidFill>
                <a:latin typeface="Cambria"/>
                <a:ea typeface="Cambria"/>
              </a:rPr>
              <a:t>Résultats attendus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7"/>
          <p:cNvSpPr/>
          <p:nvPr/>
        </p:nvSpPr>
        <p:spPr>
          <a:xfrm>
            <a:off x="6355080" y="2057400"/>
            <a:ext cx="2513880" cy="867960"/>
          </a:xfrm>
          <a:prstGeom prst="roundRect">
            <a:avLst>
              <a:gd name="adj" fmla="val 7368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7" name="Image 0" descr="preencoded.png"/>
          <p:cNvPicPr/>
          <p:nvPr/>
        </p:nvPicPr>
        <p:blipFill>
          <a:blip r:embed="rId1"/>
          <a:stretch/>
        </p:blipFill>
        <p:spPr>
          <a:xfrm>
            <a:off x="6492240" y="2331720"/>
            <a:ext cx="291960" cy="291960"/>
          </a:xfrm>
          <a:prstGeom prst="rect">
            <a:avLst/>
          </a:prstGeom>
          <a:ln w="0">
            <a:noFill/>
          </a:ln>
        </p:spPr>
      </p:pic>
      <p:sp>
        <p:nvSpPr>
          <p:cNvPr id="358" name="Text 8"/>
          <p:cNvSpPr/>
          <p:nvPr/>
        </p:nvSpPr>
        <p:spPr>
          <a:xfrm>
            <a:off x="6858000" y="213048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b2430"/>
                </a:solidFill>
                <a:latin typeface="Courier New"/>
                <a:ea typeface="Courier New"/>
              </a:rPr>
              <a:t>dim_client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 9"/>
          <p:cNvSpPr/>
          <p:nvPr/>
        </p:nvSpPr>
        <p:spPr>
          <a:xfrm>
            <a:off x="6858000" y="246888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65a82"/>
                </a:solidFill>
                <a:latin typeface="Calibri"/>
                <a:ea typeface="Calibri"/>
              </a:rPr>
              <a:t>100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10"/>
          <p:cNvSpPr/>
          <p:nvPr/>
        </p:nvSpPr>
        <p:spPr>
          <a:xfrm>
            <a:off x="9052560" y="2057400"/>
            <a:ext cx="2513880" cy="867960"/>
          </a:xfrm>
          <a:prstGeom prst="roundRect">
            <a:avLst>
              <a:gd name="adj" fmla="val 7368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1" name="Image 1" descr="preencoded.png"/>
          <p:cNvPicPr/>
          <p:nvPr/>
        </p:nvPicPr>
        <p:blipFill>
          <a:blip r:embed="rId2"/>
          <a:stretch/>
        </p:blipFill>
        <p:spPr>
          <a:xfrm>
            <a:off x="9189720" y="2331720"/>
            <a:ext cx="291960" cy="291960"/>
          </a:xfrm>
          <a:prstGeom prst="rect">
            <a:avLst/>
          </a:prstGeom>
          <a:ln w="0">
            <a:noFill/>
          </a:ln>
        </p:spPr>
      </p:pic>
      <p:sp>
        <p:nvSpPr>
          <p:cNvPr id="362" name="Text 11"/>
          <p:cNvSpPr/>
          <p:nvPr/>
        </p:nvSpPr>
        <p:spPr>
          <a:xfrm>
            <a:off x="9555480" y="213048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b2430"/>
                </a:solidFill>
                <a:latin typeface="Courier New"/>
                <a:ea typeface="Courier New"/>
              </a:rPr>
              <a:t>dim_agent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 12"/>
          <p:cNvSpPr/>
          <p:nvPr/>
        </p:nvSpPr>
        <p:spPr>
          <a:xfrm>
            <a:off x="9555480" y="246888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65a82"/>
                </a:solidFill>
                <a:latin typeface="Calibri"/>
                <a:ea typeface="Calibri"/>
              </a:rPr>
              <a:t>20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13"/>
          <p:cNvSpPr/>
          <p:nvPr/>
        </p:nvSpPr>
        <p:spPr>
          <a:xfrm>
            <a:off x="6355080" y="3063240"/>
            <a:ext cx="2513880" cy="867960"/>
          </a:xfrm>
          <a:prstGeom prst="roundRect">
            <a:avLst>
              <a:gd name="adj" fmla="val 7368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5" name="Image 2" descr="preencoded.png"/>
          <p:cNvPicPr/>
          <p:nvPr/>
        </p:nvPicPr>
        <p:blipFill>
          <a:blip r:embed="rId3"/>
          <a:stretch/>
        </p:blipFill>
        <p:spPr>
          <a:xfrm>
            <a:off x="6492240" y="3337560"/>
            <a:ext cx="291960" cy="291960"/>
          </a:xfrm>
          <a:prstGeom prst="rect">
            <a:avLst/>
          </a:prstGeom>
          <a:ln w="0">
            <a:noFill/>
          </a:ln>
        </p:spPr>
      </p:pic>
      <p:sp>
        <p:nvSpPr>
          <p:cNvPr id="366" name="Text 14"/>
          <p:cNvSpPr/>
          <p:nvPr/>
        </p:nvSpPr>
        <p:spPr>
          <a:xfrm>
            <a:off x="6858000" y="313632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b2430"/>
                </a:solidFill>
                <a:latin typeface="Courier New"/>
                <a:ea typeface="Courier New"/>
              </a:rPr>
              <a:t>dim_projet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 15"/>
          <p:cNvSpPr/>
          <p:nvPr/>
        </p:nvSpPr>
        <p:spPr>
          <a:xfrm>
            <a:off x="6858000" y="347472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65a82"/>
                </a:solidFill>
                <a:latin typeface="Calibri"/>
                <a:ea typeface="Calibri"/>
              </a:rPr>
              <a:t>15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16"/>
          <p:cNvSpPr/>
          <p:nvPr/>
        </p:nvSpPr>
        <p:spPr>
          <a:xfrm>
            <a:off x="9052560" y="3063240"/>
            <a:ext cx="2513880" cy="867960"/>
          </a:xfrm>
          <a:prstGeom prst="roundRect">
            <a:avLst>
              <a:gd name="adj" fmla="val 7368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9" name="Image 3" descr="preencoded.png"/>
          <p:cNvPicPr/>
          <p:nvPr/>
        </p:nvPicPr>
        <p:blipFill>
          <a:blip r:embed="rId4"/>
          <a:stretch/>
        </p:blipFill>
        <p:spPr>
          <a:xfrm>
            <a:off x="9189720" y="3337560"/>
            <a:ext cx="291960" cy="291960"/>
          </a:xfrm>
          <a:prstGeom prst="rect">
            <a:avLst/>
          </a:prstGeom>
          <a:ln w="0">
            <a:noFill/>
          </a:ln>
        </p:spPr>
      </p:pic>
      <p:sp>
        <p:nvSpPr>
          <p:cNvPr id="370" name="Text 17"/>
          <p:cNvSpPr/>
          <p:nvPr/>
        </p:nvSpPr>
        <p:spPr>
          <a:xfrm>
            <a:off x="9555480" y="313632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b2430"/>
                </a:solidFill>
                <a:latin typeface="Courier New"/>
                <a:ea typeface="Courier New"/>
              </a:rPr>
              <a:t>dim_bien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 18"/>
          <p:cNvSpPr/>
          <p:nvPr/>
        </p:nvSpPr>
        <p:spPr>
          <a:xfrm>
            <a:off x="9555480" y="347472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65a82"/>
                </a:solidFill>
                <a:latin typeface="Calibri"/>
                <a:ea typeface="Calibri"/>
              </a:rPr>
              <a:t>200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19"/>
          <p:cNvSpPr/>
          <p:nvPr/>
        </p:nvSpPr>
        <p:spPr>
          <a:xfrm>
            <a:off x="6355080" y="4069080"/>
            <a:ext cx="2513880" cy="867960"/>
          </a:xfrm>
          <a:prstGeom prst="roundRect">
            <a:avLst>
              <a:gd name="adj" fmla="val 7368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3" name="Image 4" descr="preencoded.png"/>
          <p:cNvPicPr/>
          <p:nvPr/>
        </p:nvPicPr>
        <p:blipFill>
          <a:blip r:embed="rId5"/>
          <a:stretch/>
        </p:blipFill>
        <p:spPr>
          <a:xfrm>
            <a:off x="6492240" y="4343400"/>
            <a:ext cx="291960" cy="291960"/>
          </a:xfrm>
          <a:prstGeom prst="rect">
            <a:avLst/>
          </a:prstGeom>
          <a:ln w="0">
            <a:noFill/>
          </a:ln>
        </p:spPr>
      </p:pic>
      <p:sp>
        <p:nvSpPr>
          <p:cNvPr id="374" name="Text 20"/>
          <p:cNvSpPr/>
          <p:nvPr/>
        </p:nvSpPr>
        <p:spPr>
          <a:xfrm>
            <a:off x="6858000" y="414216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b2430"/>
                </a:solidFill>
                <a:latin typeface="Courier New"/>
                <a:ea typeface="Courier New"/>
              </a:rPr>
              <a:t>dim_temps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21"/>
          <p:cNvSpPr/>
          <p:nvPr/>
        </p:nvSpPr>
        <p:spPr>
          <a:xfrm>
            <a:off x="6858000" y="448056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65a82"/>
                </a:solidFill>
                <a:latin typeface="Calibri"/>
                <a:ea typeface="Calibri"/>
              </a:rPr>
              <a:t>≈ </a:t>
            </a:r>
            <a:r>
              <a:rPr b="1" lang="en-US" sz="1400" spc="-1" strike="noStrike">
                <a:solidFill>
                  <a:srgbClr val="065a82"/>
                </a:solidFill>
                <a:latin typeface="Calibri"/>
                <a:ea typeface="Calibri"/>
              </a:rPr>
              <a:t>1826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22"/>
          <p:cNvSpPr/>
          <p:nvPr/>
        </p:nvSpPr>
        <p:spPr>
          <a:xfrm>
            <a:off x="9052560" y="4069080"/>
            <a:ext cx="2513880" cy="867960"/>
          </a:xfrm>
          <a:prstGeom prst="roundRect">
            <a:avLst>
              <a:gd name="adj" fmla="val 7368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77" name="Image 5" descr="preencoded.png"/>
          <p:cNvPicPr/>
          <p:nvPr/>
        </p:nvPicPr>
        <p:blipFill>
          <a:blip r:embed="rId6"/>
          <a:stretch/>
        </p:blipFill>
        <p:spPr>
          <a:xfrm>
            <a:off x="9189720" y="4343400"/>
            <a:ext cx="291960" cy="291960"/>
          </a:xfrm>
          <a:prstGeom prst="rect">
            <a:avLst/>
          </a:prstGeom>
          <a:ln w="0">
            <a:noFill/>
          </a:ln>
        </p:spPr>
      </p:pic>
      <p:sp>
        <p:nvSpPr>
          <p:cNvPr id="378" name="Text 23"/>
          <p:cNvSpPr/>
          <p:nvPr/>
        </p:nvSpPr>
        <p:spPr>
          <a:xfrm>
            <a:off x="9555480" y="414216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ourier New"/>
                <a:ea typeface="Courier New"/>
              </a:rPr>
              <a:t>fact_ventes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24"/>
          <p:cNvSpPr/>
          <p:nvPr/>
        </p:nvSpPr>
        <p:spPr>
          <a:xfrm>
            <a:off x="9555480" y="448056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9fd8e8"/>
                </a:solidFill>
                <a:latin typeface="Calibri"/>
                <a:ea typeface="Calibri"/>
              </a:rPr>
              <a:t>≈ </a:t>
            </a:r>
            <a:r>
              <a:rPr b="1" lang="en-US" sz="1400" spc="-1" strike="noStrike">
                <a:solidFill>
                  <a:srgbClr val="9fd8e8"/>
                </a:solidFill>
                <a:latin typeface="Calibri"/>
                <a:ea typeface="Calibri"/>
              </a:rPr>
              <a:t>1000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25"/>
          <p:cNvSpPr/>
          <p:nvPr/>
        </p:nvSpPr>
        <p:spPr>
          <a:xfrm>
            <a:off x="6355080" y="5120640"/>
            <a:ext cx="5302800" cy="95940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Text 26"/>
          <p:cNvSpPr/>
          <p:nvPr/>
        </p:nvSpPr>
        <p:spPr>
          <a:xfrm>
            <a:off x="6583680" y="5120640"/>
            <a:ext cx="484560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e5eef5"/>
                </a:solidFill>
                <a:latin typeface="Calibri"/>
                <a:ea typeface="Calibri"/>
              </a:rPr>
              <a:t>Cette slide prouve que le DW est effectivement chargé — transition idéale vers la visualisation.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Text 0"/>
          <p:cNvSpPr/>
          <p:nvPr/>
        </p:nvSpPr>
        <p:spPr>
          <a:xfrm>
            <a:off x="548640" y="32004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1c7293"/>
                </a:solidFill>
                <a:latin typeface="Calibri"/>
                <a:ea typeface="Calibri"/>
              </a:rPr>
              <a:t>RESTITUTION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 1"/>
          <p:cNvSpPr/>
          <p:nvPr/>
        </p:nvSpPr>
        <p:spPr>
          <a:xfrm>
            <a:off x="548640" y="56700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2430"/>
                </a:solidFill>
                <a:latin typeface="Cambria"/>
                <a:ea typeface="Cambria"/>
              </a:rPr>
              <a:t>Metabase — connexion au Data Warehouse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 2"/>
          <p:cNvSpPr/>
          <p:nvPr/>
        </p:nvSpPr>
        <p:spPr>
          <a:xfrm>
            <a:off x="457200" y="647388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b79"/>
                </a:solidFill>
                <a:latin typeface="Calibri"/>
                <a:ea typeface="Calibri"/>
              </a:rPr>
              <a:t>Projet BI — AL OMRANE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 3"/>
          <p:cNvSpPr/>
          <p:nvPr/>
        </p:nvSpPr>
        <p:spPr>
          <a:xfrm>
            <a:off x="11368800" y="64738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b79"/>
                </a:solidFill>
                <a:latin typeface="Calibri"/>
                <a:ea typeface="Calibri"/>
              </a:rPr>
              <a:t>14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4"/>
          <p:cNvSpPr/>
          <p:nvPr/>
        </p:nvSpPr>
        <p:spPr>
          <a:xfrm>
            <a:off x="548640" y="1600200"/>
            <a:ext cx="5394240" cy="2742480"/>
          </a:xfrm>
          <a:prstGeom prst="roundRect">
            <a:avLst>
              <a:gd name="adj" fmla="val 2667"/>
            </a:avLst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Text 5"/>
          <p:cNvSpPr/>
          <p:nvPr/>
        </p:nvSpPr>
        <p:spPr>
          <a:xfrm>
            <a:off x="822960" y="1783080"/>
            <a:ext cx="4845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Connexion PostgreSQL dans Metabase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 6"/>
          <p:cNvSpPr/>
          <p:nvPr/>
        </p:nvSpPr>
        <p:spPr>
          <a:xfrm>
            <a:off x="822960" y="2286000"/>
            <a:ext cx="1828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fd8e8"/>
                </a:solidFill>
                <a:latin typeface="Calibri"/>
                <a:ea typeface="Calibri"/>
              </a:rPr>
              <a:t>Host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 7"/>
          <p:cNvSpPr/>
          <p:nvPr/>
        </p:nvSpPr>
        <p:spPr>
          <a:xfrm>
            <a:off x="2651760" y="2286000"/>
            <a:ext cx="30168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urier New"/>
                <a:ea typeface="Courier New"/>
              </a:rPr>
              <a:t>postgres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 8"/>
          <p:cNvSpPr/>
          <p:nvPr/>
        </p:nvSpPr>
        <p:spPr>
          <a:xfrm>
            <a:off x="822960" y="2679120"/>
            <a:ext cx="1828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fd8e8"/>
                </a:solidFill>
                <a:latin typeface="Calibri"/>
                <a:ea typeface="Calibri"/>
              </a:rPr>
              <a:t>Port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Text 9"/>
          <p:cNvSpPr/>
          <p:nvPr/>
        </p:nvSpPr>
        <p:spPr>
          <a:xfrm>
            <a:off x="2651760" y="2679120"/>
            <a:ext cx="30168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urier New"/>
                <a:ea typeface="Courier New"/>
              </a:rPr>
              <a:t>5432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10"/>
          <p:cNvSpPr/>
          <p:nvPr/>
        </p:nvSpPr>
        <p:spPr>
          <a:xfrm>
            <a:off x="822960" y="3072240"/>
            <a:ext cx="1828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fd8e8"/>
                </a:solidFill>
                <a:latin typeface="Calibri"/>
                <a:ea typeface="Calibri"/>
              </a:rPr>
              <a:t>Database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 11"/>
          <p:cNvSpPr/>
          <p:nvPr/>
        </p:nvSpPr>
        <p:spPr>
          <a:xfrm>
            <a:off x="2651760" y="3072240"/>
            <a:ext cx="30168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urier New"/>
                <a:ea typeface="Courier New"/>
              </a:rPr>
              <a:t>alomrane_dw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 12"/>
          <p:cNvSpPr/>
          <p:nvPr/>
        </p:nvSpPr>
        <p:spPr>
          <a:xfrm>
            <a:off x="822960" y="3465720"/>
            <a:ext cx="1828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fd8e8"/>
                </a:solidFill>
                <a:latin typeface="Calibri"/>
                <a:ea typeface="Calibri"/>
              </a:rPr>
              <a:t>Username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 13"/>
          <p:cNvSpPr/>
          <p:nvPr/>
        </p:nvSpPr>
        <p:spPr>
          <a:xfrm>
            <a:off x="2651760" y="3465720"/>
            <a:ext cx="30168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urier New"/>
                <a:ea typeface="Courier New"/>
              </a:rPr>
              <a:t>amulvaro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Text 14"/>
          <p:cNvSpPr/>
          <p:nvPr/>
        </p:nvSpPr>
        <p:spPr>
          <a:xfrm>
            <a:off x="822960" y="3858840"/>
            <a:ext cx="1828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fd8e8"/>
                </a:solidFill>
                <a:latin typeface="Calibri"/>
                <a:ea typeface="Calibri"/>
              </a:rPr>
              <a:t>Password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Text 15"/>
          <p:cNvSpPr/>
          <p:nvPr/>
        </p:nvSpPr>
        <p:spPr>
          <a:xfrm>
            <a:off x="2651760" y="3858840"/>
            <a:ext cx="30168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urier New"/>
                <a:ea typeface="Courier New"/>
              </a:rPr>
              <a:t>amulvaro123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16"/>
          <p:cNvSpPr/>
          <p:nvPr/>
        </p:nvSpPr>
        <p:spPr>
          <a:xfrm>
            <a:off x="548640" y="4572000"/>
            <a:ext cx="5394240" cy="1508040"/>
          </a:xfrm>
          <a:prstGeom prst="roundRect">
            <a:avLst>
              <a:gd name="adj" fmla="val 4848"/>
            </a:avLst>
          </a:prstGeom>
          <a:solidFill>
            <a:srgbClr val="fff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9" name="Image 0" descr="preencoded.png"/>
          <p:cNvPicPr/>
          <p:nvPr/>
        </p:nvPicPr>
        <p:blipFill>
          <a:blip r:embed="rId1"/>
          <a:stretch/>
        </p:blipFill>
        <p:spPr>
          <a:xfrm>
            <a:off x="777240" y="475488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400" name="Text 17"/>
          <p:cNvSpPr/>
          <p:nvPr/>
        </p:nvSpPr>
        <p:spPr>
          <a:xfrm>
            <a:off x="1280160" y="4773240"/>
            <a:ext cx="4479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b05a00"/>
                </a:solidFill>
                <a:latin typeface="Cambria"/>
                <a:ea typeface="Cambria"/>
              </a:rPr>
              <a:t>Important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Text 18"/>
          <p:cNvSpPr/>
          <p:nvPr/>
        </p:nvSpPr>
        <p:spPr>
          <a:xfrm>
            <a:off x="777240" y="5166360"/>
            <a:ext cx="49370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7a3e00"/>
                </a:solidFill>
                <a:latin typeface="Calibri"/>
                <a:ea typeface="Calibri"/>
              </a:rPr>
              <a:t>Metabase tourne dans Docker : il doit utiliser postgres:5432, jamais localhost:5440.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2" name="Image 1" descr="preencoded.png"/>
          <p:cNvPicPr/>
          <p:nvPr/>
        </p:nvPicPr>
        <p:blipFill>
          <a:blip r:embed="rId2"/>
          <a:stretch/>
        </p:blipFill>
        <p:spPr>
          <a:xfrm>
            <a:off x="6355080" y="164592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403" name="Text 19"/>
          <p:cNvSpPr/>
          <p:nvPr/>
        </p:nvSpPr>
        <p:spPr>
          <a:xfrm>
            <a:off x="6812280" y="1691640"/>
            <a:ext cx="4754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65a82"/>
                </a:solidFill>
                <a:latin typeface="Calibri"/>
                <a:ea typeface="Calibri"/>
              </a:rPr>
              <a:t>Accès : </a:t>
            </a:r>
            <a:r>
              <a:rPr b="0" lang="en-US" sz="1350" spc="-1" strike="noStrike">
                <a:solidFill>
                  <a:srgbClr val="1b2430"/>
                </a:solidFill>
                <a:latin typeface="Calibri"/>
                <a:ea typeface="Calibri"/>
              </a:rPr>
              <a:t>http://localhost:3000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 20"/>
          <p:cNvSpPr/>
          <p:nvPr/>
        </p:nvSpPr>
        <p:spPr>
          <a:xfrm>
            <a:off x="6355080" y="2286000"/>
            <a:ext cx="5211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2430"/>
                </a:solidFill>
                <a:latin typeface="Cambria"/>
                <a:ea typeface="Cambria"/>
              </a:rPr>
              <a:t>Création du dashboard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hape 21"/>
          <p:cNvSpPr/>
          <p:nvPr/>
        </p:nvSpPr>
        <p:spPr>
          <a:xfrm>
            <a:off x="6355080" y="2743200"/>
            <a:ext cx="383400" cy="3834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Text 22"/>
          <p:cNvSpPr/>
          <p:nvPr/>
        </p:nvSpPr>
        <p:spPr>
          <a:xfrm>
            <a:off x="6355080" y="274320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Text 23"/>
          <p:cNvSpPr/>
          <p:nvPr/>
        </p:nvSpPr>
        <p:spPr>
          <a:xfrm>
            <a:off x="6858000" y="2743200"/>
            <a:ext cx="47541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2430"/>
                </a:solidFill>
                <a:latin typeface="Calibri"/>
                <a:ea typeface="Calibri"/>
              </a:rPr>
              <a:t>+ New → SQL Query (créer une question)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Shape 24"/>
          <p:cNvSpPr/>
          <p:nvPr/>
        </p:nvSpPr>
        <p:spPr>
          <a:xfrm>
            <a:off x="6355080" y="3310200"/>
            <a:ext cx="383400" cy="3834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Text 25"/>
          <p:cNvSpPr/>
          <p:nvPr/>
        </p:nvSpPr>
        <p:spPr>
          <a:xfrm>
            <a:off x="6355080" y="331020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 26"/>
          <p:cNvSpPr/>
          <p:nvPr/>
        </p:nvSpPr>
        <p:spPr>
          <a:xfrm>
            <a:off x="6858000" y="3310200"/>
            <a:ext cx="47541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2430"/>
                </a:solidFill>
                <a:latin typeface="Calibri"/>
                <a:ea typeface="Calibri"/>
              </a:rPr>
              <a:t>Enregistrer la question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Shape 27"/>
          <p:cNvSpPr/>
          <p:nvPr/>
        </p:nvSpPr>
        <p:spPr>
          <a:xfrm>
            <a:off x="6355080" y="3877200"/>
            <a:ext cx="383400" cy="3834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Text 28"/>
          <p:cNvSpPr/>
          <p:nvPr/>
        </p:nvSpPr>
        <p:spPr>
          <a:xfrm>
            <a:off x="6355080" y="387720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 29"/>
          <p:cNvSpPr/>
          <p:nvPr/>
        </p:nvSpPr>
        <p:spPr>
          <a:xfrm>
            <a:off x="6858000" y="3877200"/>
            <a:ext cx="47541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2430"/>
                </a:solidFill>
                <a:latin typeface="Calibri"/>
                <a:ea typeface="Calibri"/>
              </a:rPr>
              <a:t>+ New → Dashboard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30"/>
          <p:cNvSpPr/>
          <p:nvPr/>
        </p:nvSpPr>
        <p:spPr>
          <a:xfrm>
            <a:off x="6355080" y="4443840"/>
            <a:ext cx="383400" cy="3834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Text 31"/>
          <p:cNvSpPr/>
          <p:nvPr/>
        </p:nvSpPr>
        <p:spPr>
          <a:xfrm>
            <a:off x="6355080" y="444384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Text 32"/>
          <p:cNvSpPr/>
          <p:nvPr/>
        </p:nvSpPr>
        <p:spPr>
          <a:xfrm>
            <a:off x="6858000" y="4443840"/>
            <a:ext cx="47541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2430"/>
                </a:solidFill>
                <a:latin typeface="Calibri"/>
                <a:ea typeface="Calibri"/>
              </a:rPr>
              <a:t>Ajouter les questions sauvegardées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 33"/>
          <p:cNvSpPr/>
          <p:nvPr/>
        </p:nvSpPr>
        <p:spPr>
          <a:xfrm>
            <a:off x="6355080" y="5257800"/>
            <a:ext cx="52113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5b6b79"/>
                </a:solidFill>
                <a:latin typeface="Calibri"/>
                <a:ea typeface="Calibri"/>
              </a:rPr>
              <a:t>Une « Question » Metabase correspond à une requête ou une visualisation sauvegardée.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Text 0"/>
          <p:cNvSpPr/>
          <p:nvPr/>
        </p:nvSpPr>
        <p:spPr>
          <a:xfrm>
            <a:off x="548640" y="32004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1c7293"/>
                </a:solidFill>
                <a:latin typeface="Calibri"/>
                <a:ea typeface="Calibri"/>
              </a:rPr>
              <a:t>RESTITUTION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Text 1"/>
          <p:cNvSpPr/>
          <p:nvPr/>
        </p:nvSpPr>
        <p:spPr>
          <a:xfrm>
            <a:off x="548640" y="567000"/>
            <a:ext cx="10514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2430"/>
                </a:solidFill>
                <a:latin typeface="Cambria"/>
                <a:ea typeface="Cambria"/>
              </a:rPr>
              <a:t>Questions analytiques et visualisations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 2"/>
          <p:cNvSpPr/>
          <p:nvPr/>
        </p:nvSpPr>
        <p:spPr>
          <a:xfrm>
            <a:off x="457200" y="647388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b79"/>
                </a:solidFill>
                <a:latin typeface="Calibri"/>
                <a:ea typeface="Calibri"/>
              </a:rPr>
              <a:t>Projet BI — AL OMRANE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 3"/>
          <p:cNvSpPr/>
          <p:nvPr/>
        </p:nvSpPr>
        <p:spPr>
          <a:xfrm>
            <a:off x="11368800" y="64738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6b79"/>
                </a:solidFill>
                <a:latin typeface="Calibri"/>
                <a:ea typeface="Calibri"/>
              </a:rPr>
              <a:t>15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 4"/>
          <p:cNvSpPr/>
          <p:nvPr/>
        </p:nvSpPr>
        <p:spPr>
          <a:xfrm>
            <a:off x="548640" y="1554480"/>
            <a:ext cx="365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ambria"/>
                <a:ea typeface="Cambria"/>
              </a:rPr>
              <a:t>KPIs exécutifs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Shape 5"/>
          <p:cNvSpPr/>
          <p:nvPr/>
        </p:nvSpPr>
        <p:spPr>
          <a:xfrm>
            <a:off x="548640" y="1920240"/>
            <a:ext cx="1736640" cy="1142280"/>
          </a:xfrm>
          <a:prstGeom prst="roundRect">
            <a:avLst>
              <a:gd name="adj" fmla="val 6400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Text 6"/>
          <p:cNvSpPr/>
          <p:nvPr/>
        </p:nvSpPr>
        <p:spPr>
          <a:xfrm>
            <a:off x="640080" y="2030040"/>
            <a:ext cx="1553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Total des ventes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Text 7"/>
          <p:cNvSpPr/>
          <p:nvPr/>
        </p:nvSpPr>
        <p:spPr>
          <a:xfrm>
            <a:off x="640080" y="2606040"/>
            <a:ext cx="155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9fd8e8"/>
                </a:solidFill>
                <a:latin typeface="Calibri"/>
                <a:ea typeface="Calibri"/>
              </a:rPr>
              <a:t>Number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Shape 8"/>
          <p:cNvSpPr/>
          <p:nvPr/>
        </p:nvSpPr>
        <p:spPr>
          <a:xfrm>
            <a:off x="2423160" y="1920240"/>
            <a:ext cx="1736640" cy="1142280"/>
          </a:xfrm>
          <a:prstGeom prst="roundRect">
            <a:avLst>
              <a:gd name="adj" fmla="val 6400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Text 9"/>
          <p:cNvSpPr/>
          <p:nvPr/>
        </p:nvSpPr>
        <p:spPr>
          <a:xfrm>
            <a:off x="2514600" y="2030040"/>
            <a:ext cx="1553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Nombre de transactions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Text 10"/>
          <p:cNvSpPr/>
          <p:nvPr/>
        </p:nvSpPr>
        <p:spPr>
          <a:xfrm>
            <a:off x="2514600" y="2606040"/>
            <a:ext cx="155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9fd8e8"/>
                </a:solidFill>
                <a:latin typeface="Calibri"/>
                <a:ea typeface="Calibri"/>
              </a:rPr>
              <a:t>Number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Shape 11"/>
          <p:cNvSpPr/>
          <p:nvPr/>
        </p:nvSpPr>
        <p:spPr>
          <a:xfrm>
            <a:off x="4297680" y="1920240"/>
            <a:ext cx="1736640" cy="1142280"/>
          </a:xfrm>
          <a:prstGeom prst="roundRect">
            <a:avLst>
              <a:gd name="adj" fmla="val 6400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Text 12"/>
          <p:cNvSpPr/>
          <p:nvPr/>
        </p:nvSpPr>
        <p:spPr>
          <a:xfrm>
            <a:off x="4389120" y="2030040"/>
            <a:ext cx="1553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Montant moyen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Text 13"/>
          <p:cNvSpPr/>
          <p:nvPr/>
        </p:nvSpPr>
        <p:spPr>
          <a:xfrm>
            <a:off x="4389120" y="2606040"/>
            <a:ext cx="155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9fd8e8"/>
                </a:solidFill>
                <a:latin typeface="Calibri"/>
                <a:ea typeface="Calibri"/>
              </a:rPr>
              <a:t>Number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Text 14"/>
          <p:cNvSpPr/>
          <p:nvPr/>
        </p:nvSpPr>
        <p:spPr>
          <a:xfrm>
            <a:off x="548640" y="329184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ambria"/>
                <a:ea typeface="Cambria"/>
              </a:rPr>
              <a:t>Questions d'analyse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Shape 15"/>
          <p:cNvSpPr/>
          <p:nvPr/>
        </p:nvSpPr>
        <p:spPr>
          <a:xfrm>
            <a:off x="548640" y="3657600"/>
            <a:ext cx="2605320" cy="456480"/>
          </a:xfrm>
          <a:prstGeom prst="roundRect">
            <a:avLst>
              <a:gd name="adj" fmla="val 12000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Text 16"/>
          <p:cNvSpPr/>
          <p:nvPr/>
        </p:nvSpPr>
        <p:spPr>
          <a:xfrm>
            <a:off x="658440" y="365760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b2430"/>
                </a:solidFill>
                <a:latin typeface="Calibri"/>
                <a:ea typeface="Calibri"/>
              </a:rPr>
              <a:t>Ventes par agent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Text 17"/>
          <p:cNvSpPr/>
          <p:nvPr/>
        </p:nvSpPr>
        <p:spPr>
          <a:xfrm>
            <a:off x="2240280" y="3657600"/>
            <a:ext cx="8679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1c7293"/>
                </a:solidFill>
                <a:latin typeface="Calibri"/>
                <a:ea typeface="Calibri"/>
              </a:rPr>
              <a:t>Bar Chart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Shape 18"/>
          <p:cNvSpPr/>
          <p:nvPr/>
        </p:nvSpPr>
        <p:spPr>
          <a:xfrm>
            <a:off x="3337560" y="3657600"/>
            <a:ext cx="2605320" cy="456480"/>
          </a:xfrm>
          <a:prstGeom prst="roundRect">
            <a:avLst>
              <a:gd name="adj" fmla="val 12000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Text 19"/>
          <p:cNvSpPr/>
          <p:nvPr/>
        </p:nvSpPr>
        <p:spPr>
          <a:xfrm>
            <a:off x="3447360" y="365760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b2430"/>
                </a:solidFill>
                <a:latin typeface="Calibri"/>
                <a:ea typeface="Calibri"/>
              </a:rPr>
              <a:t>Ventes par région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Text 20"/>
          <p:cNvSpPr/>
          <p:nvPr/>
        </p:nvSpPr>
        <p:spPr>
          <a:xfrm>
            <a:off x="5029200" y="3657600"/>
            <a:ext cx="8679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1c7293"/>
                </a:solidFill>
                <a:latin typeface="Calibri"/>
                <a:ea typeface="Calibri"/>
              </a:rPr>
              <a:t>Bar Chart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Shape 21"/>
          <p:cNvSpPr/>
          <p:nvPr/>
        </p:nvSpPr>
        <p:spPr>
          <a:xfrm>
            <a:off x="548640" y="4224600"/>
            <a:ext cx="2605320" cy="456480"/>
          </a:xfrm>
          <a:prstGeom prst="roundRect">
            <a:avLst>
              <a:gd name="adj" fmla="val 12000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Text 22"/>
          <p:cNvSpPr/>
          <p:nvPr/>
        </p:nvSpPr>
        <p:spPr>
          <a:xfrm>
            <a:off x="658440" y="422460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b2430"/>
                </a:solidFill>
                <a:latin typeface="Calibri"/>
                <a:ea typeface="Calibri"/>
              </a:rPr>
              <a:t>Ventes par ville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 23"/>
          <p:cNvSpPr/>
          <p:nvPr/>
        </p:nvSpPr>
        <p:spPr>
          <a:xfrm>
            <a:off x="2240280" y="4224600"/>
            <a:ext cx="8679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1c7293"/>
                </a:solidFill>
                <a:latin typeface="Calibri"/>
                <a:ea typeface="Calibri"/>
              </a:rPr>
              <a:t>Bar Chart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Shape 24"/>
          <p:cNvSpPr/>
          <p:nvPr/>
        </p:nvSpPr>
        <p:spPr>
          <a:xfrm>
            <a:off x="3337560" y="4224600"/>
            <a:ext cx="2605320" cy="456480"/>
          </a:xfrm>
          <a:prstGeom prst="roundRect">
            <a:avLst>
              <a:gd name="adj" fmla="val 12000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Text 25"/>
          <p:cNvSpPr/>
          <p:nvPr/>
        </p:nvSpPr>
        <p:spPr>
          <a:xfrm>
            <a:off x="3447360" y="422460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b2430"/>
                </a:solidFill>
                <a:latin typeface="Calibri"/>
                <a:ea typeface="Calibri"/>
              </a:rPr>
              <a:t>Évolution mensuelle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Text 26"/>
          <p:cNvSpPr/>
          <p:nvPr/>
        </p:nvSpPr>
        <p:spPr>
          <a:xfrm>
            <a:off x="5029200" y="4224600"/>
            <a:ext cx="8679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1c7293"/>
                </a:solidFill>
                <a:latin typeface="Calibri"/>
                <a:ea typeface="Calibri"/>
              </a:rPr>
              <a:t>Line Chart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Shape 27"/>
          <p:cNvSpPr/>
          <p:nvPr/>
        </p:nvSpPr>
        <p:spPr>
          <a:xfrm>
            <a:off x="548640" y="4791600"/>
            <a:ext cx="2605320" cy="456480"/>
          </a:xfrm>
          <a:prstGeom prst="roundRect">
            <a:avLst>
              <a:gd name="adj" fmla="val 12000"/>
            </a:avLst>
          </a:prstGeom>
          <a:solidFill>
            <a:srgbClr val="f4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Text 28"/>
          <p:cNvSpPr/>
          <p:nvPr/>
        </p:nvSpPr>
        <p:spPr>
          <a:xfrm>
            <a:off x="658440" y="479160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b2430"/>
                </a:solidFill>
                <a:latin typeface="Calibri"/>
                <a:ea typeface="Calibri"/>
              </a:rPr>
              <a:t>Ventes par type de bien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Text 29"/>
          <p:cNvSpPr/>
          <p:nvPr/>
        </p:nvSpPr>
        <p:spPr>
          <a:xfrm>
            <a:off x="2240280" y="4791600"/>
            <a:ext cx="8679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1c7293"/>
                </a:solidFill>
                <a:latin typeface="Calibri"/>
                <a:ea typeface="Calibri"/>
              </a:rPr>
              <a:t>Pie / Bar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Shape 30"/>
          <p:cNvSpPr/>
          <p:nvPr/>
        </p:nvSpPr>
        <p:spPr>
          <a:xfrm>
            <a:off x="6263640" y="1554480"/>
            <a:ext cx="5348520" cy="2193840"/>
          </a:xfrm>
          <a:prstGeom prst="roundRect">
            <a:avLst>
              <a:gd name="adj" fmla="val 2917"/>
            </a:avLst>
          </a:prstGeom>
          <a:solidFill>
            <a:srgbClr val="1024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Text 31"/>
          <p:cNvSpPr/>
          <p:nvPr/>
        </p:nvSpPr>
        <p:spPr>
          <a:xfrm>
            <a:off x="6492240" y="1691640"/>
            <a:ext cx="489132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SELECT a.nom, a.prenom,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SUM(f.montant) AS total_ventes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FROM fact_ventes f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JOIN dim_agent a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ON a.sk_agent = f.sk_agent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GROUP BY a.nom, a.prenom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ORDER BY total_ventes DESC;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32"/>
          <p:cNvSpPr/>
          <p:nvPr/>
        </p:nvSpPr>
        <p:spPr>
          <a:xfrm>
            <a:off x="6263640" y="3886200"/>
            <a:ext cx="5348520" cy="2148120"/>
          </a:xfrm>
          <a:prstGeom prst="roundRect">
            <a:avLst>
              <a:gd name="adj" fmla="val 2979"/>
            </a:avLst>
          </a:prstGeom>
          <a:solidFill>
            <a:srgbClr val="1024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Text 33"/>
          <p:cNvSpPr/>
          <p:nvPr/>
        </p:nvSpPr>
        <p:spPr>
          <a:xfrm>
            <a:off x="6492240" y="4023360"/>
            <a:ext cx="4891320" cy="18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SELECT t.annee, t.mois,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SUM(f.montant) AS total_ventes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FROM fact_ventes f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JOIN dim_temps 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  </a:t>
            </a: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ON t.sk_temps = f.sk_temps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GROUP BY t.annee, t.mois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fefff"/>
                </a:solidFill>
                <a:latin typeface="Courier New"/>
                <a:ea typeface="Courier New"/>
              </a:rPr>
              <a:t>ORDER BY t.annee, t.mois;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Shape 0"/>
          <p:cNvSpPr/>
          <p:nvPr/>
        </p:nvSpPr>
        <p:spPr>
          <a:xfrm>
            <a:off x="-2103120" y="-2103120"/>
            <a:ext cx="5485680" cy="5485680"/>
          </a:xfrm>
          <a:prstGeom prst="ellipse">
            <a:avLst/>
          </a:prstGeom>
          <a:solidFill>
            <a:srgbClr val="065a82">
              <a:alpha val="2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Shape 1"/>
          <p:cNvSpPr/>
          <p:nvPr/>
        </p:nvSpPr>
        <p:spPr>
          <a:xfrm>
            <a:off x="9418320" y="4206240"/>
            <a:ext cx="5028480" cy="5028480"/>
          </a:xfrm>
          <a:prstGeom prst="ellipse">
            <a:avLst/>
          </a:prstGeom>
          <a:solidFill>
            <a:srgbClr val="1c7293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Text 2"/>
          <p:cNvSpPr/>
          <p:nvPr/>
        </p:nvSpPr>
        <p:spPr>
          <a:xfrm>
            <a:off x="640080" y="50292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6" strike="noStrike">
                <a:solidFill>
                  <a:srgbClr val="9fd8e8"/>
                </a:solidFill>
                <a:latin typeface="Calibri"/>
                <a:ea typeface="Calibri"/>
              </a:rPr>
              <a:t>CONCLUSION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Text 3"/>
          <p:cNvSpPr/>
          <p:nvPr/>
        </p:nvSpPr>
        <p:spPr>
          <a:xfrm>
            <a:off x="640080" y="77724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Conclusion et perspectives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Shape 4"/>
          <p:cNvSpPr/>
          <p:nvPr/>
        </p:nvSpPr>
        <p:spPr>
          <a:xfrm>
            <a:off x="2332440" y="1646640"/>
            <a:ext cx="3611160" cy="3611160"/>
          </a:xfrm>
          <a:prstGeom prst="roundRect">
            <a:avLst>
              <a:gd name="adj" fmla="val 2025"/>
            </a:avLst>
          </a:prstGeom>
          <a:solidFill>
            <a:srgbClr val="1a23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57" name="Image 0" descr="preencoded.png"/>
          <p:cNvPicPr/>
          <p:nvPr/>
        </p:nvPicPr>
        <p:blipFill>
          <a:blip r:embed="rId1"/>
          <a:stretch/>
        </p:blipFill>
        <p:spPr>
          <a:xfrm>
            <a:off x="2561040" y="185688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458" name="Text 5"/>
          <p:cNvSpPr/>
          <p:nvPr/>
        </p:nvSpPr>
        <p:spPr>
          <a:xfrm>
            <a:off x="3045600" y="1856880"/>
            <a:ext cx="2696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Ce que le projet démontre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Text 6"/>
          <p:cNvSpPr/>
          <p:nvPr/>
        </p:nvSpPr>
        <p:spPr>
          <a:xfrm>
            <a:off x="2606760" y="2378160"/>
            <a:ext cx="3062520" cy="27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cadcfc"/>
              </a:buClr>
              <a:buFont typeface="Wingdings" charset="2"/>
              <a:buChar char=""/>
            </a:pPr>
            <a:r>
              <a:rPr b="0" lang="en-US" sz="1150" spc="-1" strike="noStrike">
                <a:solidFill>
                  <a:srgbClr val="cadcfc"/>
                </a:solidFill>
                <a:latin typeface="Calibri"/>
                <a:ea typeface="Calibri"/>
              </a:rPr>
              <a:t>Génération de données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cadcfc"/>
              </a:buClr>
              <a:buFont typeface="Wingdings" charset="2"/>
              <a:buChar char=""/>
            </a:pPr>
            <a:r>
              <a:rPr b="0" lang="en-US" sz="1150" spc="-1" strike="noStrike">
                <a:solidFill>
                  <a:srgbClr val="cadcfc"/>
                </a:solidFill>
                <a:latin typeface="Calibri"/>
                <a:ea typeface="Calibri"/>
              </a:rPr>
              <a:t>Modélisation relationnelle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cadcfc"/>
              </a:buClr>
              <a:buFont typeface="Wingdings" charset="2"/>
              <a:buChar char=""/>
            </a:pPr>
            <a:r>
              <a:rPr b="0" lang="en-US" sz="1150" spc="-1" strike="noStrike">
                <a:solidFill>
                  <a:srgbClr val="cadcfc"/>
                </a:solidFill>
                <a:latin typeface="Calibri"/>
                <a:ea typeface="Calibri"/>
              </a:rPr>
              <a:t>Schéma en étoile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cadcfc"/>
              </a:buClr>
              <a:buFont typeface="Wingdings" charset="2"/>
              <a:buChar char=""/>
            </a:pPr>
            <a:r>
              <a:rPr b="0" lang="en-US" sz="1150" spc="-1" strike="noStrike">
                <a:solidFill>
                  <a:srgbClr val="cadcfc"/>
                </a:solidFill>
                <a:latin typeface="Calibri"/>
                <a:ea typeface="Calibri"/>
              </a:rPr>
              <a:t>ETL avec Apache Hop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cadcfc"/>
              </a:buClr>
              <a:buFont typeface="Wingdings" charset="2"/>
              <a:buChar char=""/>
            </a:pPr>
            <a:r>
              <a:rPr b="0" lang="en-US" sz="1150" spc="-1" strike="noStrike">
                <a:solidFill>
                  <a:srgbClr val="cadcfc"/>
                </a:solidFill>
                <a:latin typeface="Calibri"/>
                <a:ea typeface="Calibri"/>
              </a:rPr>
              <a:t>Data Warehouse PostgreSQL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cadcfc"/>
              </a:buClr>
              <a:buFont typeface="Wingdings" charset="2"/>
              <a:buChar char=""/>
            </a:pPr>
            <a:r>
              <a:rPr b="0" lang="en-US" sz="1150" spc="-1" strike="noStrike">
                <a:solidFill>
                  <a:srgbClr val="cadcfc"/>
                </a:solidFill>
                <a:latin typeface="Calibri"/>
                <a:ea typeface="Calibri"/>
              </a:rPr>
              <a:t>Restitution avec Metabase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Shape 10"/>
          <p:cNvSpPr/>
          <p:nvPr/>
        </p:nvSpPr>
        <p:spPr>
          <a:xfrm>
            <a:off x="6218640" y="1646640"/>
            <a:ext cx="3611160" cy="3611160"/>
          </a:xfrm>
          <a:prstGeom prst="roundRect">
            <a:avLst>
              <a:gd name="adj" fmla="val 2025"/>
            </a:avLst>
          </a:prstGeom>
          <a:solidFill>
            <a:srgbClr val="1a23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61" name="Image 2" descr="preencoded.png"/>
          <p:cNvPicPr/>
          <p:nvPr/>
        </p:nvPicPr>
        <p:blipFill>
          <a:blip r:embed="rId2"/>
          <a:stretch/>
        </p:blipFill>
        <p:spPr>
          <a:xfrm>
            <a:off x="6447240" y="185688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462" name="Text 11"/>
          <p:cNvSpPr/>
          <p:nvPr/>
        </p:nvSpPr>
        <p:spPr>
          <a:xfrm>
            <a:off x="6931800" y="1856880"/>
            <a:ext cx="2696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Perspectives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Text 12"/>
          <p:cNvSpPr/>
          <p:nvPr/>
        </p:nvSpPr>
        <p:spPr>
          <a:xfrm>
            <a:off x="6492960" y="2378160"/>
            <a:ext cx="3062520" cy="27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cadcfc"/>
              </a:buClr>
              <a:buFont typeface="Wingdings" charset="2"/>
              <a:buChar char=""/>
            </a:pPr>
            <a:r>
              <a:rPr b="0" lang="en-US" sz="1150" spc="-1" strike="noStrike">
                <a:solidFill>
                  <a:srgbClr val="cadcfc"/>
                </a:solidFill>
                <a:latin typeface="Calibri"/>
                <a:ea typeface="Calibri"/>
              </a:rPr>
              <a:t>Automatiser l'exécution périodique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cadcfc"/>
              </a:buClr>
              <a:buFont typeface="Wingdings" charset="2"/>
              <a:buChar char=""/>
            </a:pPr>
            <a:r>
              <a:rPr b="0" lang="en-US" sz="1150" spc="-1" strike="noStrike">
                <a:solidFill>
                  <a:srgbClr val="cadcfc"/>
                </a:solidFill>
                <a:latin typeface="Calibri"/>
                <a:ea typeface="Calibri"/>
              </a:rPr>
              <a:t>Enrichir les dimensions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cadcfc"/>
              </a:buClr>
              <a:buFont typeface="Wingdings" charset="2"/>
              <a:buChar char=""/>
            </a:pPr>
            <a:r>
              <a:rPr b="0" lang="en-US" sz="1150" spc="-1" strike="noStrike">
                <a:solidFill>
                  <a:srgbClr val="cadcfc"/>
                </a:solidFill>
                <a:latin typeface="Calibri"/>
                <a:ea typeface="Calibri"/>
              </a:rPr>
              <a:t>Filtres et dashboards avancés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cadcfc"/>
              </a:buClr>
              <a:buFont typeface="Wingdings" charset="2"/>
              <a:buChar char=""/>
            </a:pPr>
            <a:r>
              <a:rPr b="0" lang="en-US" sz="1150" spc="-1" strike="noStrike">
                <a:solidFill>
                  <a:srgbClr val="cadcfc"/>
                </a:solidFill>
                <a:latin typeface="Calibri"/>
                <a:ea typeface="Calibri"/>
              </a:rPr>
              <a:t>Comparer avec Power BI ou Superset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Shape 13"/>
          <p:cNvSpPr/>
          <p:nvPr/>
        </p:nvSpPr>
        <p:spPr>
          <a:xfrm>
            <a:off x="640080" y="5440680"/>
            <a:ext cx="10926360" cy="86796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65" name="Image 3" descr="preencoded.png"/>
          <p:cNvPicPr/>
          <p:nvPr/>
        </p:nvPicPr>
        <p:blipFill>
          <a:blip r:embed="rId3"/>
          <a:stretch/>
        </p:blipFill>
        <p:spPr>
          <a:xfrm>
            <a:off x="868680" y="5650920"/>
            <a:ext cx="456480" cy="456480"/>
          </a:xfrm>
          <a:prstGeom prst="rect">
            <a:avLst/>
          </a:prstGeom>
          <a:ln w="0">
            <a:noFill/>
          </a:ln>
        </p:spPr>
      </p:pic>
      <p:sp>
        <p:nvSpPr>
          <p:cNvPr id="466" name="Text 14"/>
          <p:cNvSpPr/>
          <p:nvPr/>
        </p:nvSpPr>
        <p:spPr>
          <a:xfrm>
            <a:off x="1508760" y="5486400"/>
            <a:ext cx="61257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Projet complet : source → ETL → Data Warehouse → Dashboard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Text 15">
            <a:hlinkClick r:id="rId4"/>
          </p:cNvPr>
          <p:cNvSpPr/>
          <p:nvPr/>
        </p:nvSpPr>
        <p:spPr>
          <a:xfrm>
            <a:off x="7589520" y="5486400"/>
            <a:ext cx="37483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 u="sng">
                <a:solidFill>
                  <a:srgbClr val="0563c1"/>
                </a:solidFill>
                <a:uFillTx/>
                <a:latin typeface="Calibri"/>
                <a:ea typeface="Calibri"/>
                <a:hlinkClick r:id="rId5"/>
              </a:rPr>
              <a:t>github.com/GutzRogue/alomrane-bi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2026-06-22T09:05:41Z</dcterms:created>
  <dc:creator>Mr Nourdine</dc:creator>
  <dc:description/>
  <dc:language>en-US</dc:language>
  <cp:lastModifiedBy/>
  <dcterms:modified xsi:type="dcterms:W3CDTF">2026-06-22T12:17:36Z</dcterms:modified>
  <cp:revision>5</cp:revision>
  <dc:subject>PptxGenJS Presentation</dc:subject>
  <dc:title>Projet Business Intelligence — AL OMRANE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