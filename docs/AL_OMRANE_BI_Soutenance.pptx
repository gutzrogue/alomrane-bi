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hyperlink" Target="https://github.com/GutzRogue/alomrane-bi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6" Type="http://schemas.openxmlformats.org/officeDocument/2006/relationships/image" Target="../media/image-1-5.png"/><Relationship Id="rId7" Type="http://schemas.openxmlformats.org/officeDocument/2006/relationships/image" Target="../media/image-1-6.png"/><Relationship Id="rId8" Type="http://schemas.openxmlformats.org/officeDocument/2006/relationships/image" Target="../media/image-1-7.png"/><Relationship Id="rId9" Type="http://schemas.openxmlformats.org/officeDocument/2006/relationships/image" Target="../media/image-1-8.png"/><Relationship Id="rId10" Type="http://schemas.openxmlformats.org/officeDocument/2006/relationships/image" Target="../media/image-1-9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5" Type="http://schemas.openxmlformats.org/officeDocument/2006/relationships/hyperlink" Target="https://github.com/GutzRogue/alomrane-bi" TargetMode="External"/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065A82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011680" y="4206240"/>
            <a:ext cx="5029200" cy="5029200"/>
          </a:xfrm>
          <a:prstGeom prst="ellipse">
            <a:avLst/>
          </a:prstGeom>
          <a:solidFill>
            <a:srgbClr val="1C7293">
              <a:alpha val="2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9F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BUSINESS INTELLIGENCE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78308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 OMRANE</a:t>
            </a:r>
            <a:endParaRPr lang="en-US" sz="5800" dirty="0"/>
          </a:p>
        </p:txBody>
      </p:sp>
      <p:sp>
        <p:nvSpPr>
          <p:cNvPr id="6" name="Text 4"/>
          <p:cNvSpPr/>
          <p:nvPr/>
        </p:nvSpPr>
        <p:spPr>
          <a:xfrm>
            <a:off x="822960" y="278892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donnée opérationnelle au tableau de bord décisionnel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822960" y="3520440"/>
            <a:ext cx="0" cy="1371600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566160"/>
            <a:ext cx="292608" cy="29260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80160" y="3502152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F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Étudiant 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[VOTRE NOM]</a:t>
            </a:r>
            <a:endParaRPr lang="en-US" sz="14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005072"/>
            <a:ext cx="292608" cy="29260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280160" y="3941064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F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Encadrant 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Nourdine</a:t>
            </a:r>
            <a:endParaRPr lang="en-US" sz="14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443984"/>
            <a:ext cx="292608" cy="29260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280160" y="4379976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F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Warehouse</a:t>
            </a:r>
            <a:endParaRPr lang="en-US" sz="140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882896"/>
            <a:ext cx="292608" cy="292608"/>
          </a:xfrm>
          <a:prstGeom prst="rect">
            <a:avLst/>
          </a:prstGeom>
        </p:spPr>
      </p:pic>
      <p:sp>
        <p:nvSpPr>
          <p:cNvPr id="15" name="Text 9">
            <a:hlinkClick r:id="rId5" tooltip=""/>
          </p:cNvPr>
          <p:cNvSpPr/>
          <p:nvPr/>
        </p:nvSpPr>
        <p:spPr>
          <a:xfrm>
            <a:off x="1280160" y="4818888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github.com/GutzRogue/alomrane-bi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822960" y="5806440"/>
            <a:ext cx="1783080" cy="566928"/>
          </a:xfrm>
          <a:prstGeom prst="roundRect">
            <a:avLst>
              <a:gd name="adj" fmla="val 12903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3D5A80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832" y="5943600"/>
            <a:ext cx="292608" cy="292608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280160" y="5806440"/>
            <a:ext cx="1280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</a:t>
            </a:r>
            <a:endParaRPr lang="en-US" sz="1100" dirty="0"/>
          </a:p>
        </p:txBody>
      </p:sp>
      <p:sp>
        <p:nvSpPr>
          <p:cNvPr id="19" name="Shape 12"/>
          <p:cNvSpPr/>
          <p:nvPr/>
        </p:nvSpPr>
        <p:spPr>
          <a:xfrm>
            <a:off x="2715768" y="5806440"/>
            <a:ext cx="1783080" cy="566928"/>
          </a:xfrm>
          <a:prstGeom prst="roundRect">
            <a:avLst>
              <a:gd name="adj" fmla="val 12903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3D5A80"/>
            </a:solidFill>
            <a:prstDash val="solid"/>
          </a:ln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34640" y="5943600"/>
            <a:ext cx="292608" cy="292608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3172968" y="5806440"/>
            <a:ext cx="1280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100" dirty="0"/>
          </a:p>
        </p:txBody>
      </p:sp>
      <p:sp>
        <p:nvSpPr>
          <p:cNvPr id="22" name="Shape 14"/>
          <p:cNvSpPr/>
          <p:nvPr/>
        </p:nvSpPr>
        <p:spPr>
          <a:xfrm>
            <a:off x="4608576" y="5806440"/>
            <a:ext cx="1783080" cy="566928"/>
          </a:xfrm>
          <a:prstGeom prst="roundRect">
            <a:avLst>
              <a:gd name="adj" fmla="val 12903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3D5A80"/>
            </a:solidFill>
            <a:prstDash val="solid"/>
          </a:ln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27448" y="5943600"/>
            <a:ext cx="292608" cy="292608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5065776" y="5806440"/>
            <a:ext cx="1280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Hop</a:t>
            </a:r>
            <a:endParaRPr lang="en-US" sz="1100" dirty="0"/>
          </a:p>
        </p:txBody>
      </p:sp>
      <p:sp>
        <p:nvSpPr>
          <p:cNvPr id="25" name="Shape 16"/>
          <p:cNvSpPr/>
          <p:nvPr/>
        </p:nvSpPr>
        <p:spPr>
          <a:xfrm>
            <a:off x="6501384" y="5806440"/>
            <a:ext cx="1783080" cy="566928"/>
          </a:xfrm>
          <a:prstGeom prst="roundRect">
            <a:avLst>
              <a:gd name="adj" fmla="val 12903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3D5A80"/>
            </a:solidFill>
            <a:prstDash val="solid"/>
          </a:ln>
        </p:spPr>
      </p:sp>
      <p:pic>
        <p:nvPicPr>
          <p:cNvPr id="26" name="Image 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20256" y="5943600"/>
            <a:ext cx="292608" cy="292608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6958584" y="5806440"/>
            <a:ext cx="1280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Metabase</a:t>
            </a:r>
            <a:endParaRPr lang="en-US" sz="1100" dirty="0"/>
          </a:p>
        </p:txBody>
      </p:sp>
      <p:sp>
        <p:nvSpPr>
          <p:cNvPr id="28" name="Shape 18"/>
          <p:cNvSpPr/>
          <p:nvPr/>
        </p:nvSpPr>
        <p:spPr>
          <a:xfrm>
            <a:off x="8394192" y="5806440"/>
            <a:ext cx="1783080" cy="566928"/>
          </a:xfrm>
          <a:prstGeom prst="roundRect">
            <a:avLst>
              <a:gd name="adj" fmla="val 12903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3D5A80"/>
            </a:solidFill>
            <a:prstDash val="solid"/>
          </a:ln>
        </p:spPr>
      </p:sp>
      <p:pic>
        <p:nvPicPr>
          <p:cNvPr id="29" name="Image 8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13064" y="5943600"/>
            <a:ext cx="292608" cy="292608"/>
          </a:xfrm>
          <a:prstGeom prst="rect">
            <a:avLst/>
          </a:prstGeom>
        </p:spPr>
      </p:pic>
      <p:sp>
        <p:nvSpPr>
          <p:cNvPr id="30" name="Text 19"/>
          <p:cNvSpPr/>
          <p:nvPr/>
        </p:nvSpPr>
        <p:spPr>
          <a:xfrm>
            <a:off x="8851392" y="5806440"/>
            <a:ext cx="1280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Python/Faker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CADRAGE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Contexte métier et objectifs du projet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BI — AL OMRANE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4663440" cy="4480560"/>
          </a:xfrm>
          <a:prstGeom prst="roundRect">
            <a:avLst>
              <a:gd name="adj" fmla="val 1633"/>
            </a:avLst>
          </a:prstGeom>
          <a:solidFill>
            <a:srgbClr val="21295C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920240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63040" y="1938528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 d'étude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68680" y="24231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Société immobilière AL OMRANE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868680" y="2926080"/>
            <a:ext cx="3931920" cy="0"/>
          </a:xfrm>
          <a:prstGeom prst="line">
            <a:avLst/>
          </a:prstGeom>
          <a:noFill/>
          <a:ln w="12700">
            <a:solidFill>
              <a:srgbClr val="3D5A80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154680"/>
            <a:ext cx="384048" cy="38404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371600" y="3163824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Problème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868680" y="3566160"/>
            <a:ext cx="40690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5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données de ventes existent, mais elles ne sont pas structurées pour l'analyse décisionnelle.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868680" y="4937760"/>
            <a:ext cx="4069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base transactionnelle n'est pas idéale pour le reporting : il faut séparer opérationnel et analytique.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0" y="164592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6" name="Text 12"/>
          <p:cNvSpPr/>
          <p:nvPr/>
        </p:nvSpPr>
        <p:spPr>
          <a:xfrm>
            <a:off x="5486400" y="1645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6172200" y="1645920"/>
            <a:ext cx="5486400" cy="713232"/>
          </a:xfrm>
          <a:prstGeom prst="roundRect">
            <a:avLst>
              <a:gd name="adj" fmla="val 7692"/>
            </a:avLst>
          </a:prstGeom>
          <a:solidFill>
            <a:srgbClr val="F4F8FA"/>
          </a:solidFill>
          <a:ln/>
        </p:spPr>
      </p:sp>
      <p:sp>
        <p:nvSpPr>
          <p:cNvPr id="18" name="Text 14"/>
          <p:cNvSpPr/>
          <p:nvPr/>
        </p:nvSpPr>
        <p:spPr>
          <a:xfrm>
            <a:off x="6355080" y="1645920"/>
            <a:ext cx="5120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Générer un jeu de données cohérent et réaliste</a:t>
            </a:r>
            <a:endParaRPr lang="en-US" sz="1350" dirty="0"/>
          </a:p>
        </p:txBody>
      </p:sp>
      <p:sp>
        <p:nvSpPr>
          <p:cNvPr id="19" name="Shape 15"/>
          <p:cNvSpPr/>
          <p:nvPr/>
        </p:nvSpPr>
        <p:spPr>
          <a:xfrm>
            <a:off x="5486400" y="251460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0" name="Text 16"/>
          <p:cNvSpPr/>
          <p:nvPr/>
        </p:nvSpPr>
        <p:spPr>
          <a:xfrm>
            <a:off x="5486400" y="2514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6172200" y="2514600"/>
            <a:ext cx="5486400" cy="713232"/>
          </a:xfrm>
          <a:prstGeom prst="roundRect">
            <a:avLst>
              <a:gd name="adj" fmla="val 7692"/>
            </a:avLst>
          </a:prstGeom>
          <a:solidFill>
            <a:srgbClr val="F4F8FA"/>
          </a:solidFill>
          <a:ln/>
        </p:spPr>
      </p:sp>
      <p:sp>
        <p:nvSpPr>
          <p:cNvPr id="22" name="Text 18"/>
          <p:cNvSpPr/>
          <p:nvPr/>
        </p:nvSpPr>
        <p:spPr>
          <a:xfrm>
            <a:off x="6355080" y="2514600"/>
            <a:ext cx="5120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Charger ces données dans une base source transactionnelle</a:t>
            </a:r>
            <a:endParaRPr lang="en-US" sz="1350" dirty="0"/>
          </a:p>
        </p:txBody>
      </p:sp>
      <p:sp>
        <p:nvSpPr>
          <p:cNvPr id="23" name="Shape 19"/>
          <p:cNvSpPr/>
          <p:nvPr/>
        </p:nvSpPr>
        <p:spPr>
          <a:xfrm>
            <a:off x="5486400" y="338328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4" name="Text 20"/>
          <p:cNvSpPr/>
          <p:nvPr/>
        </p:nvSpPr>
        <p:spPr>
          <a:xfrm>
            <a:off x="5486400" y="33832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5" name="Shape 21"/>
          <p:cNvSpPr/>
          <p:nvPr/>
        </p:nvSpPr>
        <p:spPr>
          <a:xfrm>
            <a:off x="6172200" y="3383280"/>
            <a:ext cx="5486400" cy="713232"/>
          </a:xfrm>
          <a:prstGeom prst="roundRect">
            <a:avLst>
              <a:gd name="adj" fmla="val 7692"/>
            </a:avLst>
          </a:prstGeom>
          <a:solidFill>
            <a:srgbClr val="F4F8FA"/>
          </a:solidFill>
          <a:ln/>
        </p:spPr>
      </p:sp>
      <p:sp>
        <p:nvSpPr>
          <p:cNvPr id="26" name="Text 22"/>
          <p:cNvSpPr/>
          <p:nvPr/>
        </p:nvSpPr>
        <p:spPr>
          <a:xfrm>
            <a:off x="6355080" y="3383280"/>
            <a:ext cx="5120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Concevoir un Data Warehouse en schéma en étoile</a:t>
            </a:r>
            <a:endParaRPr lang="en-US" sz="1350" dirty="0"/>
          </a:p>
        </p:txBody>
      </p:sp>
      <p:sp>
        <p:nvSpPr>
          <p:cNvPr id="27" name="Shape 23"/>
          <p:cNvSpPr/>
          <p:nvPr/>
        </p:nvSpPr>
        <p:spPr>
          <a:xfrm>
            <a:off x="5486400" y="425196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8" name="Text 24"/>
          <p:cNvSpPr/>
          <p:nvPr/>
        </p:nvSpPr>
        <p:spPr>
          <a:xfrm>
            <a:off x="5486400" y="42519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9" name="Shape 25"/>
          <p:cNvSpPr/>
          <p:nvPr/>
        </p:nvSpPr>
        <p:spPr>
          <a:xfrm>
            <a:off x="6172200" y="4251960"/>
            <a:ext cx="5486400" cy="713232"/>
          </a:xfrm>
          <a:prstGeom prst="roundRect">
            <a:avLst>
              <a:gd name="adj" fmla="val 7692"/>
            </a:avLst>
          </a:prstGeom>
          <a:solidFill>
            <a:srgbClr val="F4F8FA"/>
          </a:solidFill>
          <a:ln/>
        </p:spPr>
      </p:sp>
      <p:sp>
        <p:nvSpPr>
          <p:cNvPr id="30" name="Text 26"/>
          <p:cNvSpPr/>
          <p:nvPr/>
        </p:nvSpPr>
        <p:spPr>
          <a:xfrm>
            <a:off x="6355080" y="4251960"/>
            <a:ext cx="5120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Automatiser l'ETL avec Apache Hop</a:t>
            </a:r>
            <a:endParaRPr lang="en-US" sz="1350" dirty="0"/>
          </a:p>
        </p:txBody>
      </p:sp>
      <p:sp>
        <p:nvSpPr>
          <p:cNvPr id="31" name="Shape 27"/>
          <p:cNvSpPr/>
          <p:nvPr/>
        </p:nvSpPr>
        <p:spPr>
          <a:xfrm>
            <a:off x="5486400" y="512064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2" name="Text 28"/>
          <p:cNvSpPr/>
          <p:nvPr/>
        </p:nvSpPr>
        <p:spPr>
          <a:xfrm>
            <a:off x="5486400" y="51206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3" name="Shape 29"/>
          <p:cNvSpPr/>
          <p:nvPr/>
        </p:nvSpPr>
        <p:spPr>
          <a:xfrm>
            <a:off x="6172200" y="5120640"/>
            <a:ext cx="5486400" cy="713232"/>
          </a:xfrm>
          <a:prstGeom prst="roundRect">
            <a:avLst>
              <a:gd name="adj" fmla="val 7692"/>
            </a:avLst>
          </a:prstGeom>
          <a:solidFill>
            <a:srgbClr val="F4F8FA"/>
          </a:solidFill>
          <a:ln/>
        </p:spPr>
      </p:sp>
      <p:sp>
        <p:nvSpPr>
          <p:cNvPr id="34" name="Text 30"/>
          <p:cNvSpPr/>
          <p:nvPr/>
        </p:nvSpPr>
        <p:spPr>
          <a:xfrm>
            <a:off x="6355080" y="5120640"/>
            <a:ext cx="5120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Construire un dashboard analytique avec Metabase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D'ENSEMBLE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décisionnelle du projet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BI — AL OMRANE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09448" y="1920240"/>
            <a:ext cx="1691640" cy="2103120"/>
          </a:xfrm>
          <a:prstGeom prst="roundRect">
            <a:avLst>
              <a:gd name="adj" fmla="val 4865"/>
            </a:avLst>
          </a:prstGeom>
          <a:solidFill>
            <a:srgbClr val="F4F8FA"/>
          </a:solidFill>
          <a:ln/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8380" y="2176272"/>
            <a:ext cx="493776" cy="49377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82600" y="2788920"/>
            <a:ext cx="154533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+ Faker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82600" y="3337560"/>
            <a:ext cx="154533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Génération des données</a:t>
            </a:r>
            <a:endParaRPr lang="en-US" sz="9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4512" y="2852928"/>
            <a:ext cx="237744" cy="237744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465680" y="1920240"/>
            <a:ext cx="1691640" cy="2103120"/>
          </a:xfrm>
          <a:prstGeom prst="roundRect">
            <a:avLst>
              <a:gd name="adj" fmla="val 4865"/>
            </a:avLst>
          </a:prstGeom>
          <a:solidFill>
            <a:srgbClr val="F4F8FA"/>
          </a:solidFill>
          <a:ln/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4612" y="2176272"/>
            <a:ext cx="493776" cy="49377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2538832" y="2788920"/>
            <a:ext cx="154533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Fichiers CSV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2538832" y="3337560"/>
            <a:ext cx="154533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fichiers exportés</a:t>
            </a:r>
            <a:endParaRPr lang="en-US" sz="95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0744" y="2852928"/>
            <a:ext cx="237744" cy="237744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4321912" y="1920240"/>
            <a:ext cx="1691640" cy="2103120"/>
          </a:xfrm>
          <a:prstGeom prst="roundRect">
            <a:avLst>
              <a:gd name="adj" fmla="val 4865"/>
            </a:avLst>
          </a:prstGeom>
          <a:solidFill>
            <a:srgbClr val="065A82"/>
          </a:solidFill>
          <a:ln/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0844" y="2176272"/>
            <a:ext cx="493776" cy="493776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4395064" y="2788920"/>
            <a:ext cx="154533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Source</a:t>
            </a:r>
            <a:endParaRPr lang="en-US" sz="1200" dirty="0"/>
          </a:p>
        </p:txBody>
      </p:sp>
      <p:sp>
        <p:nvSpPr>
          <p:cNvPr id="19" name="Text 12"/>
          <p:cNvSpPr/>
          <p:nvPr/>
        </p:nvSpPr>
        <p:spPr>
          <a:xfrm>
            <a:off x="4395064" y="3337560"/>
            <a:ext cx="154533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E5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alomrane_source</a:t>
            </a:r>
            <a:endParaRPr lang="en-US" sz="950" dirty="0"/>
          </a:p>
        </p:txBody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76976" y="2852928"/>
            <a:ext cx="237744" cy="237744"/>
          </a:xfrm>
          <a:prstGeom prst="rect">
            <a:avLst/>
          </a:prstGeom>
        </p:spPr>
      </p:pic>
      <p:sp>
        <p:nvSpPr>
          <p:cNvPr id="21" name="Shape 13"/>
          <p:cNvSpPr/>
          <p:nvPr/>
        </p:nvSpPr>
        <p:spPr>
          <a:xfrm>
            <a:off x="6178144" y="1920240"/>
            <a:ext cx="1691640" cy="2103120"/>
          </a:xfrm>
          <a:prstGeom prst="roundRect">
            <a:avLst>
              <a:gd name="adj" fmla="val 4865"/>
            </a:avLst>
          </a:prstGeom>
          <a:solidFill>
            <a:srgbClr val="1C7293"/>
          </a:solidFill>
          <a:ln/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77076" y="2176272"/>
            <a:ext cx="493776" cy="493776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6251296" y="2788920"/>
            <a:ext cx="154533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Hop ETL</a:t>
            </a:r>
            <a:endParaRPr lang="en-US" sz="1200" dirty="0"/>
          </a:p>
        </p:txBody>
      </p:sp>
      <p:sp>
        <p:nvSpPr>
          <p:cNvPr id="24" name="Text 15"/>
          <p:cNvSpPr/>
          <p:nvPr/>
        </p:nvSpPr>
        <p:spPr>
          <a:xfrm>
            <a:off x="6251296" y="3337560"/>
            <a:ext cx="154533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E5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Pipelines + workflow</a:t>
            </a:r>
            <a:endParaRPr lang="en-US" sz="950" dirty="0"/>
          </a:p>
        </p:txBody>
      </p:sp>
      <p:pic>
        <p:nvPicPr>
          <p:cNvPr id="2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33208" y="2852928"/>
            <a:ext cx="237744" cy="237744"/>
          </a:xfrm>
          <a:prstGeom prst="rect">
            <a:avLst/>
          </a:prstGeom>
        </p:spPr>
      </p:pic>
      <p:sp>
        <p:nvSpPr>
          <p:cNvPr id="26" name="Shape 16"/>
          <p:cNvSpPr/>
          <p:nvPr/>
        </p:nvSpPr>
        <p:spPr>
          <a:xfrm>
            <a:off x="8034376" y="1920240"/>
            <a:ext cx="1691640" cy="2103120"/>
          </a:xfrm>
          <a:prstGeom prst="roundRect">
            <a:avLst>
              <a:gd name="adj" fmla="val 4865"/>
            </a:avLst>
          </a:prstGeom>
          <a:solidFill>
            <a:srgbClr val="065A82"/>
          </a:solidFill>
          <a:ln/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pic>
        <p:nvPicPr>
          <p:cNvPr id="2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33308" y="2176272"/>
            <a:ext cx="493776" cy="493776"/>
          </a:xfrm>
          <a:prstGeom prst="rect">
            <a:avLst/>
          </a:prstGeom>
        </p:spPr>
      </p:pic>
      <p:sp>
        <p:nvSpPr>
          <p:cNvPr id="28" name="Text 17"/>
          <p:cNvSpPr/>
          <p:nvPr/>
        </p:nvSpPr>
        <p:spPr>
          <a:xfrm>
            <a:off x="8107528" y="2788920"/>
            <a:ext cx="154533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DW</a:t>
            </a:r>
            <a:endParaRPr lang="en-US" sz="1200" dirty="0"/>
          </a:p>
        </p:txBody>
      </p:sp>
      <p:sp>
        <p:nvSpPr>
          <p:cNvPr id="29" name="Text 18"/>
          <p:cNvSpPr/>
          <p:nvPr/>
        </p:nvSpPr>
        <p:spPr>
          <a:xfrm>
            <a:off x="8107528" y="3337560"/>
            <a:ext cx="154533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E5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alomrane_dw — étoile</a:t>
            </a:r>
            <a:endParaRPr lang="en-US" sz="950" dirty="0"/>
          </a:p>
        </p:txBody>
      </p:sp>
      <p:pic>
        <p:nvPicPr>
          <p:cNvPr id="30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89440" y="2852928"/>
            <a:ext cx="237744" cy="237744"/>
          </a:xfrm>
          <a:prstGeom prst="rect">
            <a:avLst/>
          </a:prstGeom>
        </p:spPr>
      </p:pic>
      <p:sp>
        <p:nvSpPr>
          <p:cNvPr id="31" name="Shape 19"/>
          <p:cNvSpPr/>
          <p:nvPr/>
        </p:nvSpPr>
        <p:spPr>
          <a:xfrm>
            <a:off x="9890608" y="1920240"/>
            <a:ext cx="1691640" cy="2103120"/>
          </a:xfrm>
          <a:prstGeom prst="roundRect">
            <a:avLst>
              <a:gd name="adj" fmla="val 4865"/>
            </a:avLst>
          </a:prstGeom>
          <a:solidFill>
            <a:srgbClr val="F4F8FA"/>
          </a:solidFill>
          <a:ln/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pic>
        <p:nvPicPr>
          <p:cNvPr id="3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489540" y="2176272"/>
            <a:ext cx="493776" cy="493776"/>
          </a:xfrm>
          <a:prstGeom prst="rect">
            <a:avLst/>
          </a:prstGeom>
        </p:spPr>
      </p:pic>
      <p:sp>
        <p:nvSpPr>
          <p:cNvPr id="33" name="Text 20"/>
          <p:cNvSpPr/>
          <p:nvPr/>
        </p:nvSpPr>
        <p:spPr>
          <a:xfrm>
            <a:off x="9963760" y="2788920"/>
            <a:ext cx="154533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Metabase</a:t>
            </a:r>
            <a:endParaRPr lang="en-US" sz="1200" dirty="0"/>
          </a:p>
        </p:txBody>
      </p:sp>
      <p:sp>
        <p:nvSpPr>
          <p:cNvPr id="34" name="Text 21"/>
          <p:cNvSpPr/>
          <p:nvPr/>
        </p:nvSpPr>
        <p:spPr>
          <a:xfrm>
            <a:off x="9963760" y="3337560"/>
            <a:ext cx="154533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 décisionnels</a:t>
            </a:r>
            <a:endParaRPr lang="en-US" sz="950" dirty="0"/>
          </a:p>
        </p:txBody>
      </p:sp>
      <p:sp>
        <p:nvSpPr>
          <p:cNvPr id="35" name="Shape 22"/>
          <p:cNvSpPr/>
          <p:nvPr/>
        </p:nvSpPr>
        <p:spPr>
          <a:xfrm>
            <a:off x="609448" y="4572000"/>
            <a:ext cx="3535680" cy="1417320"/>
          </a:xfrm>
          <a:prstGeom prst="roundRect">
            <a:avLst>
              <a:gd name="adj" fmla="val 4516"/>
            </a:avLst>
          </a:prstGeom>
          <a:solidFill>
            <a:srgbClr val="EAF4F7"/>
          </a:solidFill>
          <a:ln/>
        </p:spPr>
      </p:sp>
      <p:sp>
        <p:nvSpPr>
          <p:cNvPr id="36" name="Text 23"/>
          <p:cNvSpPr/>
          <p:nvPr/>
        </p:nvSpPr>
        <p:spPr>
          <a:xfrm>
            <a:off x="792328" y="4736592"/>
            <a:ext cx="316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source</a:t>
            </a:r>
            <a:endParaRPr lang="en-US" sz="1400" dirty="0"/>
          </a:p>
        </p:txBody>
      </p:sp>
      <p:sp>
        <p:nvSpPr>
          <p:cNvPr id="37" name="Text 24"/>
          <p:cNvSpPr/>
          <p:nvPr/>
        </p:nvSpPr>
        <p:spPr>
          <a:xfrm>
            <a:off x="792328" y="5120640"/>
            <a:ext cx="316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Système opérationnel simulé</a:t>
            </a:r>
            <a:endParaRPr lang="en-US" sz="1200" dirty="0"/>
          </a:p>
        </p:txBody>
      </p:sp>
      <p:sp>
        <p:nvSpPr>
          <p:cNvPr id="38" name="Shape 25"/>
          <p:cNvSpPr/>
          <p:nvPr/>
        </p:nvSpPr>
        <p:spPr>
          <a:xfrm>
            <a:off x="4328008" y="4572000"/>
            <a:ext cx="3535680" cy="1417320"/>
          </a:xfrm>
          <a:prstGeom prst="roundRect">
            <a:avLst>
              <a:gd name="adj" fmla="val 4516"/>
            </a:avLst>
          </a:prstGeom>
          <a:solidFill>
            <a:srgbClr val="EAF4F7"/>
          </a:solidFill>
          <a:ln/>
        </p:spPr>
      </p:sp>
      <p:sp>
        <p:nvSpPr>
          <p:cNvPr id="39" name="Text 26"/>
          <p:cNvSpPr/>
          <p:nvPr/>
        </p:nvSpPr>
        <p:spPr>
          <a:xfrm>
            <a:off x="4510888" y="4736592"/>
            <a:ext cx="316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Warehouse</a:t>
            </a:r>
            <a:endParaRPr lang="en-US" sz="1400" dirty="0"/>
          </a:p>
        </p:txBody>
      </p:sp>
      <p:sp>
        <p:nvSpPr>
          <p:cNvPr id="40" name="Text 27"/>
          <p:cNvSpPr/>
          <p:nvPr/>
        </p:nvSpPr>
        <p:spPr>
          <a:xfrm>
            <a:off x="4510888" y="5120640"/>
            <a:ext cx="316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analytique en étoile</a:t>
            </a:r>
            <a:endParaRPr lang="en-US" sz="1200" dirty="0"/>
          </a:p>
        </p:txBody>
      </p:sp>
      <p:sp>
        <p:nvSpPr>
          <p:cNvPr id="41" name="Shape 28"/>
          <p:cNvSpPr/>
          <p:nvPr/>
        </p:nvSpPr>
        <p:spPr>
          <a:xfrm>
            <a:off x="8046568" y="4572000"/>
            <a:ext cx="3535680" cy="1417320"/>
          </a:xfrm>
          <a:prstGeom prst="roundRect">
            <a:avLst>
              <a:gd name="adj" fmla="val 4516"/>
            </a:avLst>
          </a:prstGeom>
          <a:solidFill>
            <a:srgbClr val="EAF4F7"/>
          </a:solidFill>
          <a:ln/>
        </p:spPr>
      </p:sp>
      <p:sp>
        <p:nvSpPr>
          <p:cNvPr id="42" name="Text 29"/>
          <p:cNvSpPr/>
          <p:nvPr/>
        </p:nvSpPr>
        <p:spPr>
          <a:xfrm>
            <a:off x="8229448" y="4736592"/>
            <a:ext cx="316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Metabase</a:t>
            </a:r>
            <a:endParaRPr lang="en-US" sz="1400" dirty="0"/>
          </a:p>
        </p:txBody>
      </p:sp>
      <p:sp>
        <p:nvSpPr>
          <p:cNvPr id="43" name="Text 30"/>
          <p:cNvSpPr/>
          <p:nvPr/>
        </p:nvSpPr>
        <p:spPr>
          <a:xfrm>
            <a:off x="8229448" y="5120640"/>
            <a:ext cx="316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Couche de restitution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CHOIX TECHNOLOGIQUES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Choix technologiques et justification d'Apache Hop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BI — AL OMRANE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457200" cy="457200"/>
          </a:xfrm>
          <a:prstGeom prst="ellipse">
            <a:avLst/>
          </a:prstGeom>
          <a:solidFill>
            <a:srgbClr val="EAF4F7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64792"/>
            <a:ext cx="310896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88720" y="169164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— </a:t>
            </a:r>
            <a:pPr indent="0" marL="0">
              <a:buNone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des services et reproductibilité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48640" y="2295144"/>
            <a:ext cx="457200" cy="457200"/>
          </a:xfrm>
          <a:prstGeom prst="ellipse">
            <a:avLst/>
          </a:prstGeom>
          <a:solidFill>
            <a:srgbClr val="EAF4F7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2368296"/>
            <a:ext cx="310896" cy="31089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88720" y="2295144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— </a:t>
            </a:r>
            <a:pPr indent="0" marL="0">
              <a:buNone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SGBD open source pour la base source et le DW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548640" y="2898648"/>
            <a:ext cx="457200" cy="457200"/>
          </a:xfrm>
          <a:prstGeom prst="ellipse">
            <a:avLst/>
          </a:prstGeom>
          <a:solidFill>
            <a:srgbClr val="EAF4F7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2971800"/>
            <a:ext cx="310896" cy="31089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188720" y="2898648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+ Faker — </a:t>
            </a:r>
            <a:pPr indent="0" marL="0">
              <a:buNone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Génération rapide de données réalistes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548640" y="3502152"/>
            <a:ext cx="457200" cy="457200"/>
          </a:xfrm>
          <a:prstGeom prst="ellipse">
            <a:avLst/>
          </a:prstGeom>
          <a:solidFill>
            <a:srgbClr val="EAF4F7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" y="3575304"/>
            <a:ext cx="310896" cy="310896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188720" y="3502152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Hop — </a:t>
            </a:r>
            <a:pPr indent="0" marL="0">
              <a:buNone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graphique, open source, moderne</a:t>
            </a:r>
            <a:endParaRPr lang="en-US" sz="1250" dirty="0"/>
          </a:p>
        </p:txBody>
      </p:sp>
      <p:sp>
        <p:nvSpPr>
          <p:cNvPr id="18" name="Shape 12"/>
          <p:cNvSpPr/>
          <p:nvPr/>
        </p:nvSpPr>
        <p:spPr>
          <a:xfrm>
            <a:off x="548640" y="4105656"/>
            <a:ext cx="457200" cy="457200"/>
          </a:xfrm>
          <a:prstGeom prst="ellipse">
            <a:avLst/>
          </a:prstGeom>
          <a:solidFill>
            <a:srgbClr val="EAF4F7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4178808"/>
            <a:ext cx="310896" cy="310896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188720" y="4105656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Metabase — </a:t>
            </a:r>
            <a:pPr indent="0" marL="0">
              <a:buNone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Visualisation simple et rapide sur PostgreSQL</a:t>
            </a:r>
            <a:endParaRPr lang="en-US" sz="1250" dirty="0"/>
          </a:p>
        </p:txBody>
      </p:sp>
      <p:sp>
        <p:nvSpPr>
          <p:cNvPr id="21" name="Shape 14"/>
          <p:cNvSpPr/>
          <p:nvPr/>
        </p:nvSpPr>
        <p:spPr>
          <a:xfrm>
            <a:off x="6126480" y="1600200"/>
            <a:ext cx="5486400" cy="4526280"/>
          </a:xfrm>
          <a:prstGeom prst="roundRect">
            <a:avLst>
              <a:gd name="adj" fmla="val 1616"/>
            </a:avLst>
          </a:prstGeom>
          <a:solidFill>
            <a:srgbClr val="21295C"/>
          </a:solidFill>
          <a:ln/>
        </p:spPr>
      </p:sp>
      <p:sp>
        <p:nvSpPr>
          <p:cNvPr id="22" name="Text 15"/>
          <p:cNvSpPr/>
          <p:nvPr/>
        </p:nvSpPr>
        <p:spPr>
          <a:xfrm>
            <a:off x="6400800" y="1810512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Pourquoi Hop au lieu de Pentaho ?</a:t>
            </a:r>
            <a:endParaRPr lang="en-US" sz="1600" dirty="0"/>
          </a:p>
        </p:txBody>
      </p:sp>
      <p:sp>
        <p:nvSpPr>
          <p:cNvPr id="23" name="Shape 16"/>
          <p:cNvSpPr/>
          <p:nvPr/>
        </p:nvSpPr>
        <p:spPr>
          <a:xfrm>
            <a:off x="6400800" y="2423160"/>
            <a:ext cx="4937760" cy="1143000"/>
          </a:xfrm>
          <a:prstGeom prst="roundRect">
            <a:avLst>
              <a:gd name="adj" fmla="val 4800"/>
            </a:avLst>
          </a:prstGeom>
          <a:solidFill>
            <a:srgbClr val="16234A"/>
          </a:solidFill>
          <a:ln/>
        </p:spPr>
      </p:sp>
      <p:sp>
        <p:nvSpPr>
          <p:cNvPr id="24" name="Shape 17"/>
          <p:cNvSpPr/>
          <p:nvPr/>
        </p:nvSpPr>
        <p:spPr>
          <a:xfrm>
            <a:off x="6565392" y="2569464"/>
            <a:ext cx="109728" cy="109728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18"/>
          <p:cNvSpPr/>
          <p:nvPr/>
        </p:nvSpPr>
        <p:spPr>
          <a:xfrm>
            <a:off x="6766560" y="2496312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Pentaho CE</a:t>
            </a:r>
            <a:endParaRPr lang="en-US" sz="1350" dirty="0"/>
          </a:p>
        </p:txBody>
      </p:sp>
      <p:sp>
        <p:nvSpPr>
          <p:cNvPr id="26" name="Text 19"/>
          <p:cNvSpPr/>
          <p:nvPr/>
        </p:nvSpPr>
        <p:spPr>
          <a:xfrm>
            <a:off x="6565392" y="283464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Envisagé initialement ; distributions historiques aujourd'hui moins directes à récupérer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6400800" y="3703320"/>
            <a:ext cx="4937760" cy="1143000"/>
          </a:xfrm>
          <a:prstGeom prst="roundRect">
            <a:avLst>
              <a:gd name="adj" fmla="val 4800"/>
            </a:avLst>
          </a:prstGeom>
          <a:solidFill>
            <a:srgbClr val="16234A"/>
          </a:solidFill>
          <a:ln/>
        </p:spPr>
      </p:sp>
      <p:sp>
        <p:nvSpPr>
          <p:cNvPr id="28" name="Shape 21"/>
          <p:cNvSpPr/>
          <p:nvPr/>
        </p:nvSpPr>
        <p:spPr>
          <a:xfrm>
            <a:off x="6565392" y="3849624"/>
            <a:ext cx="109728" cy="109728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29" name="Text 22"/>
          <p:cNvSpPr/>
          <p:nvPr/>
        </p:nvSpPr>
        <p:spPr>
          <a:xfrm>
            <a:off x="6766560" y="3776472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Hop</a:t>
            </a:r>
            <a:endParaRPr lang="en-US" sz="1350" dirty="0"/>
          </a:p>
        </p:txBody>
      </p:sp>
      <p:sp>
        <p:nvSpPr>
          <p:cNvPr id="30" name="Text 23"/>
          <p:cNvSpPr/>
          <p:nvPr/>
        </p:nvSpPr>
        <p:spPr>
          <a:xfrm>
            <a:off x="6565392" y="411480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Logique proche de Kettle/Pentaho ; mieux justifiable dans une stack pédagogique moderne</a:t>
            </a:r>
            <a:endParaRPr lang="en-US" sz="1100" dirty="0"/>
          </a:p>
        </p:txBody>
      </p:sp>
      <p:sp>
        <p:nvSpPr>
          <p:cNvPr id="31" name="Text 24"/>
          <p:cNvSpPr/>
          <p:nvPr/>
        </p:nvSpPr>
        <p:spPr>
          <a:xfrm>
            <a:off x="6400800" y="5120640"/>
            <a:ext cx="4937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Avantage clé : </a:t>
            </a:r>
            <a:pPr indent="0" marL="0">
              <a:buNone/>
            </a:pPr>
            <a:r>
              <a:rPr lang="en-US" sz="1200" dirty="0">
                <a:solidFill>
                  <a:srgbClr val="E5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pipelines, workflows et lookups visuels, activement maintenu par l'Apache Software Foundation.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1 · DONNÉES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Génération des données simulées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BI — AL OMRANE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scripts/generate_data.py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011680"/>
            <a:ext cx="53949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Bibliothèques : faker, pandas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 : 5 fichiers CSV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clients.csv · agents_immobilier.csv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projets.csv · biens_immobilier.csv · transactions.csv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749040"/>
            <a:ext cx="5394960" cy="1691640"/>
          </a:xfrm>
          <a:prstGeom prst="roundRect">
            <a:avLst>
              <a:gd name="adj" fmla="val 3784"/>
            </a:avLst>
          </a:prstGeom>
          <a:solidFill>
            <a:srgbClr val="10243E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886200"/>
            <a:ext cx="49377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BFE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venv .venv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BFE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 .venv/bin/activate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BFE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faker pandas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BFE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scripts/generate_data.py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0" y="160020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Volumes générés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0" y="2103120"/>
            <a:ext cx="960120" cy="1280160"/>
          </a:xfrm>
          <a:prstGeom prst="roundRect">
            <a:avLst>
              <a:gd name="adj" fmla="val 7619"/>
            </a:avLst>
          </a:prstGeom>
          <a:solidFill>
            <a:srgbClr val="EAF4F7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0" y="2286000"/>
            <a:ext cx="960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6400800" y="2971800"/>
            <a:ext cx="960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525512" y="2103120"/>
            <a:ext cx="960120" cy="1280160"/>
          </a:xfrm>
          <a:prstGeom prst="roundRect">
            <a:avLst>
              <a:gd name="adj" fmla="val 7619"/>
            </a:avLst>
          </a:prstGeom>
          <a:solidFill>
            <a:srgbClr val="EAF4F7"/>
          </a:solidFill>
          <a:ln/>
        </p:spPr>
      </p:sp>
      <p:sp>
        <p:nvSpPr>
          <p:cNvPr id="15" name="Text 13"/>
          <p:cNvSpPr/>
          <p:nvPr/>
        </p:nvSpPr>
        <p:spPr>
          <a:xfrm>
            <a:off x="7525512" y="2286000"/>
            <a:ext cx="960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7525512" y="2971800"/>
            <a:ext cx="960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650224" y="2103120"/>
            <a:ext cx="960120" cy="1280160"/>
          </a:xfrm>
          <a:prstGeom prst="roundRect">
            <a:avLst>
              <a:gd name="adj" fmla="val 7619"/>
            </a:avLst>
          </a:prstGeom>
          <a:solidFill>
            <a:srgbClr val="EAF4F7"/>
          </a:solidFill>
          <a:ln/>
        </p:spPr>
      </p:sp>
      <p:sp>
        <p:nvSpPr>
          <p:cNvPr id="18" name="Text 16"/>
          <p:cNvSpPr/>
          <p:nvPr/>
        </p:nvSpPr>
        <p:spPr>
          <a:xfrm>
            <a:off x="8650224" y="2286000"/>
            <a:ext cx="960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8650224" y="2971800"/>
            <a:ext cx="960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400800" y="3566160"/>
            <a:ext cx="960120" cy="1280160"/>
          </a:xfrm>
          <a:prstGeom prst="roundRect">
            <a:avLst>
              <a:gd name="adj" fmla="val 7619"/>
            </a:avLst>
          </a:prstGeom>
          <a:solidFill>
            <a:srgbClr val="EAF4F7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0" y="3749040"/>
            <a:ext cx="960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400800" y="4434840"/>
            <a:ext cx="960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Biens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525512" y="3566160"/>
            <a:ext cx="960120" cy="1280160"/>
          </a:xfrm>
          <a:prstGeom prst="roundRect">
            <a:avLst>
              <a:gd name="adj" fmla="val 7619"/>
            </a:avLst>
          </a:prstGeom>
          <a:solidFill>
            <a:srgbClr val="065A82"/>
          </a:solidFill>
          <a:ln/>
        </p:spPr>
      </p:sp>
      <p:sp>
        <p:nvSpPr>
          <p:cNvPr id="24" name="Text 22"/>
          <p:cNvSpPr/>
          <p:nvPr/>
        </p:nvSpPr>
        <p:spPr>
          <a:xfrm>
            <a:off x="7525512" y="3749040"/>
            <a:ext cx="960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1000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7525512" y="4434840"/>
            <a:ext cx="960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5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400800" y="5074920"/>
            <a:ext cx="5212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Faker permet d'obtenir des données réalistes sans dépendre de données réelles ; le CSV simplifie l'injection initiale dans PostgreSQL.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Infrastructure Docker et logique des ports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BI — AL OMRANE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3611880" cy="1005840"/>
          </a:xfrm>
          <a:prstGeom prst="roundRect">
            <a:avLst>
              <a:gd name="adj" fmla="val 7273"/>
            </a:avLst>
          </a:prstGeom>
          <a:solidFill>
            <a:srgbClr val="F4F8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755648"/>
            <a:ext cx="384048" cy="38404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07008" y="1664208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alomrane_postgres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1207008" y="201168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5440:5432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343400" y="1600200"/>
            <a:ext cx="3611880" cy="1005840"/>
          </a:xfrm>
          <a:prstGeom prst="roundRect">
            <a:avLst>
              <a:gd name="adj" fmla="val 7273"/>
            </a:avLst>
          </a:prstGeom>
          <a:solidFill>
            <a:srgbClr val="F4F8F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7992" y="1755648"/>
            <a:ext cx="384048" cy="38404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001768" y="1664208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alomrane_pgadmin</a:t>
            </a:r>
            <a:endParaRPr lang="en-US" sz="1150" dirty="0"/>
          </a:p>
        </p:txBody>
      </p:sp>
      <p:sp>
        <p:nvSpPr>
          <p:cNvPr id="13" name="Text 9"/>
          <p:cNvSpPr/>
          <p:nvPr/>
        </p:nvSpPr>
        <p:spPr>
          <a:xfrm>
            <a:off x="5001768" y="201168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5080:80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8138160" y="1600200"/>
            <a:ext cx="3611880" cy="1005840"/>
          </a:xfrm>
          <a:prstGeom prst="roundRect">
            <a:avLst>
              <a:gd name="adj" fmla="val 7273"/>
            </a:avLst>
          </a:prstGeom>
          <a:solidFill>
            <a:srgbClr val="F4F8FA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2752" y="1755648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796528" y="1664208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alomrane_metabase</a:t>
            </a:r>
            <a:endParaRPr lang="en-US" sz="1150" dirty="0"/>
          </a:p>
        </p:txBody>
      </p:sp>
      <p:sp>
        <p:nvSpPr>
          <p:cNvPr id="17" name="Text 12"/>
          <p:cNvSpPr/>
          <p:nvPr/>
        </p:nvSpPr>
        <p:spPr>
          <a:xfrm>
            <a:off x="8796528" y="201168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3000:3000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548640" y="292608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HOST_PORT : CONTAINER_PORT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548640" y="3291840"/>
            <a:ext cx="2377440" cy="914400"/>
          </a:xfrm>
          <a:prstGeom prst="roundRect">
            <a:avLst>
              <a:gd name="adj" fmla="val 7000"/>
            </a:avLst>
          </a:prstGeom>
          <a:solidFill>
            <a:srgbClr val="065A82"/>
          </a:solidFill>
          <a:ln/>
        </p:spPr>
      </p:sp>
      <p:sp>
        <p:nvSpPr>
          <p:cNvPr id="20" name="Text 15"/>
          <p:cNvSpPr/>
          <p:nvPr/>
        </p:nvSpPr>
        <p:spPr>
          <a:xfrm>
            <a:off x="548640" y="3364992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5440</a:t>
            </a:r>
            <a:endParaRPr lang="en-US" sz="2200" dirty="0"/>
          </a:p>
        </p:txBody>
      </p:sp>
      <p:sp>
        <p:nvSpPr>
          <p:cNvPr id="21" name="Text 16"/>
          <p:cNvSpPr/>
          <p:nvPr/>
        </p:nvSpPr>
        <p:spPr>
          <a:xfrm>
            <a:off x="548640" y="37947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Ubuntu</a:t>
            </a:r>
            <a:endParaRPr lang="en-US" sz="1050" dirty="0"/>
          </a:p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3240" y="3611880"/>
            <a:ext cx="365760" cy="36576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3566160" y="3291840"/>
            <a:ext cx="2377440" cy="914400"/>
          </a:xfrm>
          <a:prstGeom prst="roundRect">
            <a:avLst>
              <a:gd name="adj" fmla="val 7000"/>
            </a:avLst>
          </a:prstGeom>
          <a:solidFill>
            <a:srgbClr val="1C7293"/>
          </a:solidFill>
          <a:ln/>
        </p:spPr>
      </p:sp>
      <p:sp>
        <p:nvSpPr>
          <p:cNvPr id="24" name="Text 18"/>
          <p:cNvSpPr/>
          <p:nvPr/>
        </p:nvSpPr>
        <p:spPr>
          <a:xfrm>
            <a:off x="3566160" y="3364992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5432</a:t>
            </a:r>
            <a:endParaRPr lang="en-US" sz="2200" dirty="0"/>
          </a:p>
        </p:txBody>
      </p:sp>
      <p:sp>
        <p:nvSpPr>
          <p:cNvPr id="25" name="Text 19"/>
          <p:cNvSpPr/>
          <p:nvPr/>
        </p:nvSpPr>
        <p:spPr>
          <a:xfrm>
            <a:off x="3566160" y="37947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5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Conteneur PostgreSQL</a:t>
            </a:r>
            <a:endParaRPr lang="en-US" sz="1050" dirty="0"/>
          </a:p>
        </p:txBody>
      </p:sp>
      <p:sp>
        <p:nvSpPr>
          <p:cNvPr id="26" name="Text 20"/>
          <p:cNvSpPr/>
          <p:nvPr/>
        </p:nvSpPr>
        <p:spPr>
          <a:xfrm>
            <a:off x="548640" y="4480560"/>
            <a:ext cx="54406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Depuis Ubuntu : localhost:5440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Depuis un autre conteneur Docker : postgres:5432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Metabase n'utilise pas localhost — c'est le conteneur lui-même</a:t>
            </a:r>
            <a:endParaRPr lang="en-US" sz="1250" dirty="0"/>
          </a:p>
        </p:txBody>
      </p:sp>
      <p:sp>
        <p:nvSpPr>
          <p:cNvPr id="27" name="Shape 21"/>
          <p:cNvSpPr/>
          <p:nvPr/>
        </p:nvSpPr>
        <p:spPr>
          <a:xfrm>
            <a:off x="6263640" y="2926080"/>
            <a:ext cx="5349240" cy="1280160"/>
          </a:xfrm>
          <a:prstGeom prst="roundRect">
            <a:avLst>
              <a:gd name="adj" fmla="val 5000"/>
            </a:avLst>
          </a:prstGeom>
          <a:solidFill>
            <a:srgbClr val="10243E"/>
          </a:solidFill>
          <a:ln/>
        </p:spPr>
      </p:sp>
      <p:sp>
        <p:nvSpPr>
          <p:cNvPr id="28" name="Text 22"/>
          <p:cNvSpPr/>
          <p:nvPr/>
        </p:nvSpPr>
        <p:spPr>
          <a:xfrm>
            <a:off x="6492240" y="3063240"/>
            <a:ext cx="48920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BFE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docker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BFE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 -d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BFE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ps</a:t>
            </a:r>
            <a:endParaRPr lang="en-US" sz="1300" dirty="0"/>
          </a:p>
        </p:txBody>
      </p:sp>
      <p:sp>
        <p:nvSpPr>
          <p:cNvPr id="29" name="Shape 23"/>
          <p:cNvSpPr/>
          <p:nvPr/>
        </p:nvSpPr>
        <p:spPr>
          <a:xfrm>
            <a:off x="6263640" y="4343400"/>
            <a:ext cx="5349240" cy="1828800"/>
          </a:xfrm>
          <a:prstGeom prst="roundRect">
            <a:avLst>
              <a:gd name="adj" fmla="val 4000"/>
            </a:avLst>
          </a:prstGeom>
          <a:solidFill>
            <a:srgbClr val="21295C"/>
          </a:solidFill>
          <a:ln/>
        </p:spPr>
      </p:sp>
      <p:sp>
        <p:nvSpPr>
          <p:cNvPr id="30" name="Text 24"/>
          <p:cNvSpPr/>
          <p:nvPr/>
        </p:nvSpPr>
        <p:spPr>
          <a:xfrm>
            <a:off x="6492240" y="4462272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retenir</a:t>
            </a:r>
            <a:endParaRPr lang="en-US" sz="1400" dirty="0"/>
          </a:p>
        </p:txBody>
      </p:sp>
      <p:sp>
        <p:nvSpPr>
          <p:cNvPr id="31" name="Text 25"/>
          <p:cNvSpPr/>
          <p:nvPr/>
        </p:nvSpPr>
        <p:spPr>
          <a:xfrm>
            <a:off x="6492240" y="4846320"/>
            <a:ext cx="489204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5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conflit n'existe que si deux conteneurs veulent utiliser le même port hôte. Chaque conteneur communique via le nom du service Docker, jamais via localhost vers un autre conteneur.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DE DONNÉES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opérationnelle alomrane_source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BI — AL OMRANE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4206240" cy="566928"/>
          </a:xfrm>
          <a:prstGeom prst="roundRect">
            <a:avLst>
              <a:gd name="adj" fmla="val 9677"/>
            </a:avLst>
          </a:prstGeom>
          <a:solidFill>
            <a:srgbClr val="F4F8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764792"/>
            <a:ext cx="329184" cy="32918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88720" y="1645920"/>
            <a:ext cx="3474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clients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2322576"/>
            <a:ext cx="4206240" cy="566928"/>
          </a:xfrm>
          <a:prstGeom prst="roundRect">
            <a:avLst>
              <a:gd name="adj" fmla="val 9677"/>
            </a:avLst>
          </a:prstGeom>
          <a:solidFill>
            <a:srgbClr val="F4F8FA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441448"/>
            <a:ext cx="329184" cy="32918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88720" y="2322576"/>
            <a:ext cx="3474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agents_immobilier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548640" y="2999232"/>
            <a:ext cx="4206240" cy="566928"/>
          </a:xfrm>
          <a:prstGeom prst="roundRect">
            <a:avLst>
              <a:gd name="adj" fmla="val 9677"/>
            </a:avLst>
          </a:prstGeom>
          <a:solidFill>
            <a:srgbClr val="F4F8FA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3118104"/>
            <a:ext cx="329184" cy="32918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188720" y="2999232"/>
            <a:ext cx="3474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projets</a:t>
            </a:r>
            <a:endParaRPr lang="en-US" sz="1350" dirty="0"/>
          </a:p>
        </p:txBody>
      </p:sp>
      <p:sp>
        <p:nvSpPr>
          <p:cNvPr id="15" name="Shape 10"/>
          <p:cNvSpPr/>
          <p:nvPr/>
        </p:nvSpPr>
        <p:spPr>
          <a:xfrm>
            <a:off x="548640" y="3675888"/>
            <a:ext cx="4206240" cy="566928"/>
          </a:xfrm>
          <a:prstGeom prst="roundRect">
            <a:avLst>
              <a:gd name="adj" fmla="val 9677"/>
            </a:avLst>
          </a:prstGeom>
          <a:solidFill>
            <a:srgbClr val="F4F8FA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3794760"/>
            <a:ext cx="329184" cy="329184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188720" y="3675888"/>
            <a:ext cx="3474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biens_immobilier</a:t>
            </a:r>
            <a:endParaRPr lang="en-US" sz="1350" dirty="0"/>
          </a:p>
        </p:txBody>
      </p:sp>
      <p:sp>
        <p:nvSpPr>
          <p:cNvPr id="18" name="Shape 12"/>
          <p:cNvSpPr/>
          <p:nvPr/>
        </p:nvSpPr>
        <p:spPr>
          <a:xfrm>
            <a:off x="548640" y="4352544"/>
            <a:ext cx="4206240" cy="566928"/>
          </a:xfrm>
          <a:prstGeom prst="roundRect">
            <a:avLst>
              <a:gd name="adj" fmla="val 9677"/>
            </a:avLst>
          </a:prstGeom>
          <a:solidFill>
            <a:srgbClr val="065A82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" y="4471416"/>
            <a:ext cx="329184" cy="329184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188720" y="4352544"/>
            <a:ext cx="3474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transactions</a:t>
            </a:r>
            <a:endParaRPr lang="en-US" sz="1350" dirty="0"/>
          </a:p>
        </p:txBody>
      </p:sp>
      <p:sp>
        <p:nvSpPr>
          <p:cNvPr id="21" name="Shape 14"/>
          <p:cNvSpPr/>
          <p:nvPr/>
        </p:nvSpPr>
        <p:spPr>
          <a:xfrm>
            <a:off x="5120640" y="1645920"/>
            <a:ext cx="6492240" cy="3154680"/>
          </a:xfrm>
          <a:prstGeom prst="roundRect">
            <a:avLst>
              <a:gd name="adj" fmla="val 2319"/>
            </a:avLst>
          </a:prstGeom>
          <a:solidFill>
            <a:srgbClr val="EAF4F7"/>
          </a:solidFill>
          <a:ln/>
        </p:spPr>
      </p:sp>
      <p:sp>
        <p:nvSpPr>
          <p:cNvPr id="22" name="Text 15"/>
          <p:cNvSpPr/>
          <p:nvPr/>
        </p:nvSpPr>
        <p:spPr>
          <a:xfrm>
            <a:off x="5394960" y="182880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Relations métier</a:t>
            </a:r>
            <a:endParaRPr lang="en-US" sz="1400" dirty="0"/>
          </a:p>
        </p:txBody>
      </p:sp>
      <p:sp>
        <p:nvSpPr>
          <p:cNvPr id="23" name="Text 16"/>
          <p:cNvSpPr/>
          <p:nvPr/>
        </p:nvSpPr>
        <p:spPr>
          <a:xfrm>
            <a:off x="5394960" y="2286000"/>
            <a:ext cx="5943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bien appartient à un projet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transaction relie un client, un agent et un bien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base source représente le système transactionnel</a:t>
            </a:r>
            <a:endParaRPr lang="en-US" sz="1300" dirty="0"/>
          </a:p>
        </p:txBody>
      </p:sp>
      <p:sp>
        <p:nvSpPr>
          <p:cNvPr id="24" name="Text 17"/>
          <p:cNvSpPr/>
          <p:nvPr/>
        </p:nvSpPr>
        <p:spPr>
          <a:xfrm>
            <a:off x="5394960" y="3703320"/>
            <a:ext cx="5943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Cette base n'est pas conçue pour le reporting : l'analyse multi-axes y serait plus coûteuse.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5120640" y="4983480"/>
            <a:ext cx="6492240" cy="1463040"/>
          </a:xfrm>
          <a:prstGeom prst="roundRect">
            <a:avLst>
              <a:gd name="adj" fmla="val 4375"/>
            </a:avLst>
          </a:prstGeom>
          <a:solidFill>
            <a:srgbClr val="10243E"/>
          </a:solidFill>
          <a:ln/>
        </p:spPr>
      </p:sp>
      <p:sp>
        <p:nvSpPr>
          <p:cNvPr id="26" name="Text 19"/>
          <p:cNvSpPr/>
          <p:nvPr/>
        </p:nvSpPr>
        <p:spPr>
          <a:xfrm>
            <a:off x="5349240" y="5120640"/>
            <a:ext cx="60350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BFE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exec -it alomrane_postgres \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BFE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psql -U amulvaro -d alomrane_source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BFE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\dt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BFE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COUNT(*) FROM transactions;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MODÉLISATION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Warehouse alomrane_dw et modèle en étoile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BI — AL OMRANE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788920" y="356616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065A82"/>
          </a:solidFill>
          <a:ln/>
          <a:effectLst>
            <a:outerShdw sx="100000" sy="100000" kx="0" ky="0" algn="bl" rotWithShape="0" blurRad="63500" dist="25400" dir="5400000">
              <a:srgbClr val="000000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88920" y="356616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fact_ventes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788920" y="4041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montant · nombre_transaction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749040" y="2286000"/>
            <a:ext cx="0" cy="1737360"/>
          </a:xfrm>
          <a:prstGeom prst="line">
            <a:avLst/>
          </a:prstGeom>
          <a:noFill/>
          <a:ln w="19050">
            <a:solidFill>
              <a:srgbClr val="B9C9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71600" y="4023360"/>
            <a:ext cx="2377440" cy="0"/>
          </a:xfrm>
          <a:prstGeom prst="line">
            <a:avLst/>
          </a:prstGeom>
          <a:noFill/>
          <a:ln w="19050">
            <a:solidFill>
              <a:srgbClr val="B9C9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749040" y="4023360"/>
            <a:ext cx="2377440" cy="0"/>
          </a:xfrm>
          <a:prstGeom prst="line">
            <a:avLst/>
          </a:prstGeom>
          <a:noFill/>
          <a:ln w="19050">
            <a:solidFill>
              <a:srgbClr val="B9C9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60320" y="4023360"/>
            <a:ext cx="1188720" cy="1737360"/>
          </a:xfrm>
          <a:prstGeom prst="line">
            <a:avLst/>
          </a:prstGeom>
          <a:noFill/>
          <a:ln w="19050">
            <a:solidFill>
              <a:srgbClr val="B9C9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749040" y="4023360"/>
            <a:ext cx="1188720" cy="1737360"/>
          </a:xfrm>
          <a:prstGeom prst="line">
            <a:avLst/>
          </a:prstGeom>
          <a:noFill/>
          <a:ln w="19050">
            <a:solidFill>
              <a:srgbClr val="B9C9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017520" y="1993392"/>
            <a:ext cx="1463040" cy="585216"/>
          </a:xfrm>
          <a:prstGeom prst="roundRect">
            <a:avLst>
              <a:gd name="adj" fmla="val 10938"/>
            </a:avLst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3017520" y="1993392"/>
            <a:ext cx="146304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dim_temps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730752"/>
            <a:ext cx="1463040" cy="585216"/>
          </a:xfrm>
          <a:prstGeom prst="roundRect">
            <a:avLst>
              <a:gd name="adj" fmla="val 10938"/>
            </a:avLst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730752"/>
            <a:ext cx="146304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dim_client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394960" y="3730752"/>
            <a:ext cx="1463040" cy="585216"/>
          </a:xfrm>
          <a:prstGeom prst="roundRect">
            <a:avLst>
              <a:gd name="adj" fmla="val 10938"/>
            </a:avLst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5394960" y="3730752"/>
            <a:ext cx="146304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dim_agent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28800" y="5468112"/>
            <a:ext cx="1463040" cy="585216"/>
          </a:xfrm>
          <a:prstGeom prst="roundRect">
            <a:avLst>
              <a:gd name="adj" fmla="val 10938"/>
            </a:avLst>
          </a:prstGeom>
          <a:solidFill>
            <a:srgbClr val="1C7293"/>
          </a:solidFill>
          <a:ln/>
        </p:spPr>
      </p:sp>
      <p:sp>
        <p:nvSpPr>
          <p:cNvPr id="21" name="Text 19"/>
          <p:cNvSpPr/>
          <p:nvPr/>
        </p:nvSpPr>
        <p:spPr>
          <a:xfrm>
            <a:off x="1828800" y="5468112"/>
            <a:ext cx="146304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dim_bien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206240" y="5468112"/>
            <a:ext cx="1463040" cy="585216"/>
          </a:xfrm>
          <a:prstGeom prst="roundRect">
            <a:avLst>
              <a:gd name="adj" fmla="val 10938"/>
            </a:avLst>
          </a:prstGeom>
          <a:solidFill>
            <a:srgbClr val="1C7293"/>
          </a:solidFill>
          <a:ln/>
        </p:spPr>
      </p:sp>
      <p:sp>
        <p:nvSpPr>
          <p:cNvPr id="23" name="Text 21"/>
          <p:cNvSpPr/>
          <p:nvPr/>
        </p:nvSpPr>
        <p:spPr>
          <a:xfrm>
            <a:off x="4206240" y="5468112"/>
            <a:ext cx="146304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dim_projet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223760" y="1645920"/>
            <a:ext cx="4389120" cy="4434840"/>
          </a:xfrm>
          <a:prstGeom prst="roundRect">
            <a:avLst>
              <a:gd name="adj" fmla="val 1667"/>
            </a:avLst>
          </a:prstGeom>
          <a:solidFill>
            <a:srgbClr val="EAF4F7"/>
          </a:solidFill>
          <a:ln/>
        </p:spPr>
      </p:sp>
      <p:sp>
        <p:nvSpPr>
          <p:cNvPr id="25" name="Text 23"/>
          <p:cNvSpPr/>
          <p:nvPr/>
        </p:nvSpPr>
        <p:spPr>
          <a:xfrm>
            <a:off x="7452360" y="182880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Logique analytique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452360" y="2286000"/>
            <a:ext cx="39319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table de faits porte les mesures : montant, nombre_transaction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dimensions donnent le contexte : qui, quoi, où, quand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7452360" y="3611880"/>
            <a:ext cx="3931920" cy="0"/>
          </a:xfrm>
          <a:prstGeom prst="line">
            <a:avLst/>
          </a:prstGeom>
          <a:noFill/>
          <a:ln w="12700">
            <a:solidFill>
              <a:srgbClr val="C9DCE5"/>
            </a:solidFill>
            <a:prstDash val="solid"/>
          </a:ln>
        </p:spPr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0" y="3794760"/>
            <a:ext cx="365760" cy="365760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7909560" y="3813048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Point clé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7452360" y="4251960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passe des IDs métier (id_client, id_agent…) à des clés substituts (sk_client, sk_agent…).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7452360" y="5212080"/>
            <a:ext cx="3931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dim_temps est essentielle pour les analyses mensuelles, trimestrielles et annuelles.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ALIMENTATION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Alimentation de la dimension temps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BI — AL OMRANE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53949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●"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dim_temps remplie directement en SQL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●"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Période couverte : du 2021-01-01 au 2025-12-31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●"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Attributs : date_complete, jour, mois, annee, trimestre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3291840"/>
            <a:ext cx="5394960" cy="868680"/>
          </a:xfrm>
          <a:prstGeom prst="roundRect">
            <a:avLst>
              <a:gd name="adj" fmla="val 8421"/>
            </a:avLst>
          </a:prstGeom>
          <a:solidFill>
            <a:srgbClr val="21295C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3502152"/>
            <a:ext cx="457200" cy="4572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71600" y="3337560"/>
            <a:ext cx="4434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</a:t>
            </a:r>
            <a:pPr indent="0" marL="0">
              <a:buNone/>
            </a:pPr>
            <a:r>
              <a:rPr lang="en-US" sz="1150" dirty="0">
                <a:solidFill>
                  <a:srgbClr val="E5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generate_series() génère la plage de dates complète automatiquement.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548640" y="44348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Axe d'analyse commun à toutes les ventes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Regroupements immédiats par mois, trimestre ou année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217920" y="1645920"/>
            <a:ext cx="5394960" cy="3886200"/>
          </a:xfrm>
          <a:prstGeom prst="roundRect">
            <a:avLst>
              <a:gd name="adj" fmla="val 1647"/>
            </a:avLst>
          </a:prstGeom>
          <a:solidFill>
            <a:srgbClr val="10243E"/>
          </a:solidFill>
          <a:ln/>
        </p:spPr>
      </p:sp>
      <p:sp>
        <p:nvSpPr>
          <p:cNvPr id="12" name="Text 9"/>
          <p:cNvSpPr/>
          <p:nvPr/>
        </p:nvSpPr>
        <p:spPr>
          <a:xfrm>
            <a:off x="6446520" y="1783080"/>
            <a:ext cx="4937760" cy="3611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BFE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 INTO dim_temps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BFE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(date_complete, jour, mois, annee, trimestre)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BFE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d::date,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BFE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EXTRACT(DAY FROM d)::int,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BFE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EXTRACT(MONTH FROM d)::int,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BFE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EXTRACT(YEAR FROM d)::int,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BFE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EXTRACT(QUARTER FROM d)::int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BFE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generate_series(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BFE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'2021-01-01'::date, '2025-12-31'::date,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BFE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interval '1 day') AS d;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· APACHE HOP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Apache Hop — chargement des dimensions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BI — AL OMRANE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2377440" cy="777240"/>
          </a:xfrm>
          <a:prstGeom prst="roundRect">
            <a:avLst>
              <a:gd name="adj" fmla="val 9412"/>
            </a:avLst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691640"/>
            <a:ext cx="2377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Input</a:t>
            </a:r>
            <a:endParaRPr lang="en-US" sz="13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63240" y="1956816"/>
            <a:ext cx="365760" cy="36576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3566160" y="1691640"/>
            <a:ext cx="2377440" cy="777240"/>
          </a:xfrm>
          <a:prstGeom prst="roundRect">
            <a:avLst>
              <a:gd name="adj" fmla="val 9412"/>
            </a:avLst>
          </a:prstGeom>
          <a:solidFill>
            <a:srgbClr val="1C7293"/>
          </a:solidFill>
          <a:ln/>
        </p:spPr>
      </p:sp>
      <p:sp>
        <p:nvSpPr>
          <p:cNvPr id="10" name="Text 7"/>
          <p:cNvSpPr/>
          <p:nvPr/>
        </p:nvSpPr>
        <p:spPr>
          <a:xfrm>
            <a:off x="3566160" y="1691640"/>
            <a:ext cx="2377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Output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48640" y="27889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Pipelines créés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48640" y="3246120"/>
            <a:ext cx="5577840" cy="566928"/>
          </a:xfrm>
          <a:prstGeom prst="roundRect">
            <a:avLst>
              <a:gd name="adj" fmla="val 9677"/>
            </a:avLst>
          </a:prstGeom>
          <a:solidFill>
            <a:srgbClr val="F4F8FA"/>
          </a:solidFill>
          <a:ln/>
        </p:spPr>
      </p:sp>
      <p:sp>
        <p:nvSpPr>
          <p:cNvPr id="13" name="Text 10"/>
          <p:cNvSpPr/>
          <p:nvPr/>
        </p:nvSpPr>
        <p:spPr>
          <a:xfrm>
            <a:off x="713232" y="3246120"/>
            <a:ext cx="2560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load_dim_client.hpl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3337560" y="3246120"/>
            <a:ext cx="26974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→ dim_client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" y="3904488"/>
            <a:ext cx="5577840" cy="566928"/>
          </a:xfrm>
          <a:prstGeom prst="roundRect">
            <a:avLst>
              <a:gd name="adj" fmla="val 9677"/>
            </a:avLst>
          </a:prstGeom>
          <a:solidFill>
            <a:srgbClr val="F4F8FA"/>
          </a:solidFill>
          <a:ln/>
        </p:spPr>
      </p:sp>
      <p:sp>
        <p:nvSpPr>
          <p:cNvPr id="16" name="Text 13"/>
          <p:cNvSpPr/>
          <p:nvPr/>
        </p:nvSpPr>
        <p:spPr>
          <a:xfrm>
            <a:off x="713232" y="3904488"/>
            <a:ext cx="2560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load_dim_agents.hpl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3337560" y="3904488"/>
            <a:ext cx="26974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agents_immobilier → dim_agent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48640" y="4562856"/>
            <a:ext cx="5577840" cy="566928"/>
          </a:xfrm>
          <a:prstGeom prst="roundRect">
            <a:avLst>
              <a:gd name="adj" fmla="val 9677"/>
            </a:avLst>
          </a:prstGeom>
          <a:solidFill>
            <a:srgbClr val="F4F8FA"/>
          </a:solidFill>
          <a:ln/>
        </p:spPr>
      </p:sp>
      <p:sp>
        <p:nvSpPr>
          <p:cNvPr id="19" name="Text 16"/>
          <p:cNvSpPr/>
          <p:nvPr/>
        </p:nvSpPr>
        <p:spPr>
          <a:xfrm>
            <a:off x="713232" y="4562856"/>
            <a:ext cx="2560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load_dim_projets.hpl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3337560" y="4562856"/>
            <a:ext cx="26974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projets → dim_projet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48640" y="5221224"/>
            <a:ext cx="5577840" cy="566928"/>
          </a:xfrm>
          <a:prstGeom prst="roundRect">
            <a:avLst>
              <a:gd name="adj" fmla="val 9677"/>
            </a:avLst>
          </a:prstGeom>
          <a:solidFill>
            <a:srgbClr val="F4F8FA"/>
          </a:solidFill>
          <a:ln/>
        </p:spPr>
      </p:sp>
      <p:sp>
        <p:nvSpPr>
          <p:cNvPr id="22" name="Text 19"/>
          <p:cNvSpPr/>
          <p:nvPr/>
        </p:nvSpPr>
        <p:spPr>
          <a:xfrm>
            <a:off x="713232" y="5221224"/>
            <a:ext cx="2560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load_dim_bien.hpl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3337560" y="5221224"/>
            <a:ext cx="26974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biens_immobilier → dim_bien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492240" y="1691640"/>
            <a:ext cx="5120640" cy="4160520"/>
          </a:xfrm>
          <a:prstGeom prst="roundRect">
            <a:avLst>
              <a:gd name="adj" fmla="val 1758"/>
            </a:avLst>
          </a:prstGeom>
          <a:solidFill>
            <a:srgbClr val="21295C"/>
          </a:solidFill>
          <a:ln/>
        </p:spPr>
      </p:sp>
      <p:sp>
        <p:nvSpPr>
          <p:cNvPr id="25" name="Text 22"/>
          <p:cNvSpPr/>
          <p:nvPr/>
        </p:nvSpPr>
        <p:spPr>
          <a:xfrm>
            <a:off x="6766560" y="1920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retenir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6766560" y="2377440"/>
            <a:ext cx="45720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E5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dimensions simples sont chargées par copie contrôlée depuis la base source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E5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surrogate keys (sk_*) ne sont pas envoyées depuis Hop : elles sont générées automatiquement par PostgreSQL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E5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Cette étape doit être terminée avant la table de faits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· APACHE HOP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Apache Hop — pipeline load_fact_ventes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BI — AL OMRANE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Objectif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48640" y="1920240"/>
            <a:ext cx="54864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Charger fact_ventes à partir de transactions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Convertir les IDs métier en clés substituts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880360"/>
            <a:ext cx="5577840" cy="1783080"/>
          </a:xfrm>
          <a:prstGeom prst="roundRect">
            <a:avLst>
              <a:gd name="adj" fmla="val 3590"/>
            </a:avLst>
          </a:prstGeom>
          <a:solidFill>
            <a:srgbClr val="10243E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017520"/>
            <a:ext cx="51206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BFE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t.id_client, t.id_agent, t.id_bien,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BFE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b.id_projet, t.date_transaction,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BFE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t.montant, 1 AS nombre_transaction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BFE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transactions t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BFE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 biens_immobilier b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BFE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ON b.id_bien = t.id_bien;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48640" y="4800600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JOIN récupère id_projet, lié au bien immobilier.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0" y="155448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Chaîne de lookups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0" y="1965960"/>
            <a:ext cx="2103120" cy="457200"/>
          </a:xfrm>
          <a:prstGeom prst="roundRect">
            <a:avLst>
              <a:gd name="adj" fmla="val 12000"/>
            </a:avLst>
          </a:prstGeom>
          <a:solidFill>
            <a:srgbClr val="F4F8FA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0" y="196596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id_client</a:t>
            </a:r>
            <a:endParaRPr lang="en-US" sz="105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13648" y="2057400"/>
            <a:ext cx="274320" cy="27432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9006840" y="1965960"/>
            <a:ext cx="2103120" cy="457200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/>
        </p:spPr>
      </p:sp>
      <p:sp>
        <p:nvSpPr>
          <p:cNvPr id="16" name="Text 13"/>
          <p:cNvSpPr/>
          <p:nvPr/>
        </p:nvSpPr>
        <p:spPr>
          <a:xfrm>
            <a:off x="9006840" y="196596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sk_client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400800" y="2496312"/>
            <a:ext cx="2103120" cy="457200"/>
          </a:xfrm>
          <a:prstGeom prst="roundRect">
            <a:avLst>
              <a:gd name="adj" fmla="val 12000"/>
            </a:avLst>
          </a:prstGeom>
          <a:solidFill>
            <a:srgbClr val="F4F8FA"/>
          </a:solidFill>
          <a:ln/>
        </p:spPr>
      </p:sp>
      <p:sp>
        <p:nvSpPr>
          <p:cNvPr id="18" name="Text 15"/>
          <p:cNvSpPr/>
          <p:nvPr/>
        </p:nvSpPr>
        <p:spPr>
          <a:xfrm>
            <a:off x="6400800" y="2496312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id_agent</a:t>
            </a:r>
            <a:endParaRPr lang="en-US" sz="1050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13648" y="2587752"/>
            <a:ext cx="274320" cy="2743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9006840" y="2496312"/>
            <a:ext cx="2103120" cy="457200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/>
        </p:spPr>
      </p:sp>
      <p:sp>
        <p:nvSpPr>
          <p:cNvPr id="21" name="Text 17"/>
          <p:cNvSpPr/>
          <p:nvPr/>
        </p:nvSpPr>
        <p:spPr>
          <a:xfrm>
            <a:off x="9006840" y="2496312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sk_agent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6400800" y="3026664"/>
            <a:ext cx="2103120" cy="457200"/>
          </a:xfrm>
          <a:prstGeom prst="roundRect">
            <a:avLst>
              <a:gd name="adj" fmla="val 12000"/>
            </a:avLst>
          </a:prstGeom>
          <a:solidFill>
            <a:srgbClr val="F4F8FA"/>
          </a:solidFill>
          <a:ln/>
        </p:spPr>
      </p:sp>
      <p:sp>
        <p:nvSpPr>
          <p:cNvPr id="23" name="Text 19"/>
          <p:cNvSpPr/>
          <p:nvPr/>
        </p:nvSpPr>
        <p:spPr>
          <a:xfrm>
            <a:off x="6400800" y="3026664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id_bien</a:t>
            </a:r>
            <a:endParaRPr lang="en-US" sz="1050" dirty="0"/>
          </a:p>
        </p:txBody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3648" y="3118104"/>
            <a:ext cx="274320" cy="274320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9006840" y="3026664"/>
            <a:ext cx="2103120" cy="457200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/>
        </p:spPr>
      </p:sp>
      <p:sp>
        <p:nvSpPr>
          <p:cNvPr id="26" name="Text 21"/>
          <p:cNvSpPr/>
          <p:nvPr/>
        </p:nvSpPr>
        <p:spPr>
          <a:xfrm>
            <a:off x="9006840" y="3026664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sk_bien</a:t>
            </a:r>
            <a:endParaRPr lang="en-US" sz="1050" dirty="0"/>
          </a:p>
        </p:txBody>
      </p:sp>
      <p:sp>
        <p:nvSpPr>
          <p:cNvPr id="27" name="Shape 22"/>
          <p:cNvSpPr/>
          <p:nvPr/>
        </p:nvSpPr>
        <p:spPr>
          <a:xfrm>
            <a:off x="6400800" y="3557016"/>
            <a:ext cx="2103120" cy="457200"/>
          </a:xfrm>
          <a:prstGeom prst="roundRect">
            <a:avLst>
              <a:gd name="adj" fmla="val 12000"/>
            </a:avLst>
          </a:prstGeom>
          <a:solidFill>
            <a:srgbClr val="F4F8FA"/>
          </a:solidFill>
          <a:ln/>
        </p:spPr>
      </p:sp>
      <p:sp>
        <p:nvSpPr>
          <p:cNvPr id="28" name="Text 23"/>
          <p:cNvSpPr/>
          <p:nvPr/>
        </p:nvSpPr>
        <p:spPr>
          <a:xfrm>
            <a:off x="6400800" y="3557016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id_projet</a:t>
            </a:r>
            <a:endParaRPr lang="en-US" sz="1050" dirty="0"/>
          </a:p>
        </p:txBody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3648" y="3648456"/>
            <a:ext cx="274320" cy="274320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9006840" y="3557016"/>
            <a:ext cx="2103120" cy="457200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/>
        </p:spPr>
      </p:sp>
      <p:sp>
        <p:nvSpPr>
          <p:cNvPr id="31" name="Text 25"/>
          <p:cNvSpPr/>
          <p:nvPr/>
        </p:nvSpPr>
        <p:spPr>
          <a:xfrm>
            <a:off x="9006840" y="3557016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sk_projet</a:t>
            </a:r>
            <a:endParaRPr lang="en-US" sz="1050" dirty="0"/>
          </a:p>
        </p:txBody>
      </p:sp>
      <p:sp>
        <p:nvSpPr>
          <p:cNvPr id="32" name="Shape 26"/>
          <p:cNvSpPr/>
          <p:nvPr/>
        </p:nvSpPr>
        <p:spPr>
          <a:xfrm>
            <a:off x="6400800" y="4087368"/>
            <a:ext cx="2103120" cy="457200"/>
          </a:xfrm>
          <a:prstGeom prst="roundRect">
            <a:avLst>
              <a:gd name="adj" fmla="val 12000"/>
            </a:avLst>
          </a:prstGeom>
          <a:solidFill>
            <a:srgbClr val="F4F8FA"/>
          </a:solidFill>
          <a:ln/>
        </p:spPr>
      </p:sp>
      <p:sp>
        <p:nvSpPr>
          <p:cNvPr id="33" name="Text 27"/>
          <p:cNvSpPr/>
          <p:nvPr/>
        </p:nvSpPr>
        <p:spPr>
          <a:xfrm>
            <a:off x="6400800" y="4087368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date_transaction</a:t>
            </a:r>
            <a:endParaRPr lang="en-US" sz="1050" dirty="0"/>
          </a:p>
        </p:txBody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13648" y="4178808"/>
            <a:ext cx="274320" cy="274320"/>
          </a:xfrm>
          <a:prstGeom prst="rect">
            <a:avLst/>
          </a:prstGeom>
        </p:spPr>
      </p:pic>
      <p:sp>
        <p:nvSpPr>
          <p:cNvPr id="35" name="Shape 28"/>
          <p:cNvSpPr/>
          <p:nvPr/>
        </p:nvSpPr>
        <p:spPr>
          <a:xfrm>
            <a:off x="9006840" y="4087368"/>
            <a:ext cx="2103120" cy="457200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/>
        </p:spPr>
      </p:sp>
      <p:sp>
        <p:nvSpPr>
          <p:cNvPr id="36" name="Text 29"/>
          <p:cNvSpPr/>
          <p:nvPr/>
        </p:nvSpPr>
        <p:spPr>
          <a:xfrm>
            <a:off x="9006840" y="4087368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sk_temps</a:t>
            </a:r>
            <a:endParaRPr lang="en-US" sz="1050" dirty="0"/>
          </a:p>
        </p:txBody>
      </p:sp>
      <p:sp>
        <p:nvSpPr>
          <p:cNvPr id="37" name="Text 30"/>
          <p:cNvSpPr/>
          <p:nvPr/>
        </p:nvSpPr>
        <p:spPr>
          <a:xfrm>
            <a:off x="6400800" y="4709160"/>
            <a:ext cx="5212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Lookup</a:t>
            </a:r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ajoute la valeur de lookup au flux pour chaque clé métier.</a:t>
            </a:r>
            <a:endParaRPr lang="en-US" sz="1150" dirty="0"/>
          </a:p>
        </p:txBody>
      </p:sp>
      <p:sp>
        <p:nvSpPr>
          <p:cNvPr id="38" name="Text 31"/>
          <p:cNvSpPr/>
          <p:nvPr/>
        </p:nvSpPr>
        <p:spPr>
          <a:xfrm>
            <a:off x="6400800" y="5257800"/>
            <a:ext cx="5212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Insertion finale dans fact_ventes : sk_client, sk_agent, sk_projet, sk_bien, sk_temps, montant, nombre_transaction.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Workflow d'orchestration alomrane_etl.hwf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BI — AL OMRANE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600200" cy="1280160"/>
          </a:xfrm>
          <a:prstGeom prst="roundRect">
            <a:avLst>
              <a:gd name="adj" fmla="val 5714"/>
            </a:avLst>
          </a:prstGeom>
          <a:solidFill>
            <a:srgbClr val="1C7293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828800"/>
            <a:ext cx="15087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05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66544" y="2350008"/>
            <a:ext cx="201168" cy="20116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2258568" y="1828800"/>
            <a:ext cx="1600200" cy="1280160"/>
          </a:xfrm>
          <a:prstGeom prst="roundRect">
            <a:avLst>
              <a:gd name="adj" fmla="val 5714"/>
            </a:avLst>
          </a:prstGeom>
          <a:solidFill>
            <a:srgbClr val="F4F8FA"/>
          </a:solidFill>
          <a:ln/>
        </p:spPr>
      </p:sp>
      <p:sp>
        <p:nvSpPr>
          <p:cNvPr id="10" name="Text 7"/>
          <p:cNvSpPr/>
          <p:nvPr/>
        </p:nvSpPr>
        <p:spPr>
          <a:xfrm>
            <a:off x="2304288" y="1828800"/>
            <a:ext cx="15087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load_dim_client</a:t>
            </a:r>
            <a:endParaRPr lang="en-US" sz="10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7912" y="2350008"/>
            <a:ext cx="201168" cy="20116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4059936" y="1828800"/>
            <a:ext cx="1600200" cy="1280160"/>
          </a:xfrm>
          <a:prstGeom prst="roundRect">
            <a:avLst>
              <a:gd name="adj" fmla="val 5714"/>
            </a:avLst>
          </a:prstGeom>
          <a:solidFill>
            <a:srgbClr val="F4F8FA"/>
          </a:solidFill>
          <a:ln/>
        </p:spPr>
      </p:sp>
      <p:sp>
        <p:nvSpPr>
          <p:cNvPr id="13" name="Text 9"/>
          <p:cNvSpPr/>
          <p:nvPr/>
        </p:nvSpPr>
        <p:spPr>
          <a:xfrm>
            <a:off x="4105656" y="1828800"/>
            <a:ext cx="15087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load_dim_agents</a:t>
            </a:r>
            <a:endParaRPr lang="en-US" sz="105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2350008"/>
            <a:ext cx="201168" cy="201168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5861304" y="1828800"/>
            <a:ext cx="1600200" cy="1280160"/>
          </a:xfrm>
          <a:prstGeom prst="roundRect">
            <a:avLst>
              <a:gd name="adj" fmla="val 5714"/>
            </a:avLst>
          </a:prstGeom>
          <a:solidFill>
            <a:srgbClr val="F4F8FA"/>
          </a:solidFill>
          <a:ln/>
        </p:spPr>
      </p:sp>
      <p:sp>
        <p:nvSpPr>
          <p:cNvPr id="16" name="Text 11"/>
          <p:cNvSpPr/>
          <p:nvPr/>
        </p:nvSpPr>
        <p:spPr>
          <a:xfrm>
            <a:off x="5907024" y="1828800"/>
            <a:ext cx="15087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load_dim_projets</a:t>
            </a:r>
            <a:endParaRPr lang="en-US" sz="105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0648" y="2350008"/>
            <a:ext cx="201168" cy="20116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7662672" y="1828800"/>
            <a:ext cx="1600200" cy="1280160"/>
          </a:xfrm>
          <a:prstGeom prst="roundRect">
            <a:avLst>
              <a:gd name="adj" fmla="val 5714"/>
            </a:avLst>
          </a:prstGeom>
          <a:solidFill>
            <a:srgbClr val="F4F8FA"/>
          </a:solidFill>
          <a:ln/>
        </p:spPr>
      </p:sp>
      <p:sp>
        <p:nvSpPr>
          <p:cNvPr id="19" name="Text 13"/>
          <p:cNvSpPr/>
          <p:nvPr/>
        </p:nvSpPr>
        <p:spPr>
          <a:xfrm>
            <a:off x="7708392" y="1828800"/>
            <a:ext cx="15087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load_dim_bien</a:t>
            </a:r>
            <a:endParaRPr lang="en-US" sz="105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2016" y="2350008"/>
            <a:ext cx="201168" cy="201168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9464040" y="1828800"/>
            <a:ext cx="1600200" cy="1280160"/>
          </a:xfrm>
          <a:prstGeom prst="roundRect">
            <a:avLst>
              <a:gd name="adj" fmla="val 5714"/>
            </a:avLst>
          </a:prstGeom>
          <a:solidFill>
            <a:srgbClr val="065A82"/>
          </a:solidFill>
          <a:ln/>
        </p:spPr>
      </p:sp>
      <p:sp>
        <p:nvSpPr>
          <p:cNvPr id="22" name="Text 15"/>
          <p:cNvSpPr/>
          <p:nvPr/>
        </p:nvSpPr>
        <p:spPr>
          <a:xfrm>
            <a:off x="9509760" y="1828800"/>
            <a:ext cx="15087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load_fact_ventes</a:t>
            </a:r>
            <a:endParaRPr lang="en-US" sz="1050" dirty="0"/>
          </a:p>
        </p:txBody>
      </p:sp>
      <p:sp>
        <p:nvSpPr>
          <p:cNvPr id="23" name="Shape 16"/>
          <p:cNvSpPr/>
          <p:nvPr/>
        </p:nvSpPr>
        <p:spPr>
          <a:xfrm>
            <a:off x="548640" y="3703320"/>
            <a:ext cx="11064240" cy="2331720"/>
          </a:xfrm>
          <a:prstGeom prst="roundRect">
            <a:avLst>
              <a:gd name="adj" fmla="val 3137"/>
            </a:avLst>
          </a:prstGeom>
          <a:solidFill>
            <a:srgbClr val="EAF4F7"/>
          </a:solidFill>
          <a:ln/>
        </p:spPr>
      </p:sp>
      <p:sp>
        <p:nvSpPr>
          <p:cNvPr id="24" name="Text 17"/>
          <p:cNvSpPr/>
          <p:nvPr/>
        </p:nvSpPr>
        <p:spPr>
          <a:xfrm>
            <a:off x="822960" y="38862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Pourquoi cet ordre ?</a:t>
            </a:r>
            <a:endParaRPr lang="en-US" sz="1500" dirty="0"/>
          </a:p>
        </p:txBody>
      </p:sp>
      <p:sp>
        <p:nvSpPr>
          <p:cNvPr id="25" name="Text 18"/>
          <p:cNvSpPr/>
          <p:nvPr/>
        </p:nvSpPr>
        <p:spPr>
          <a:xfrm>
            <a:off x="822960" y="4343400"/>
            <a:ext cx="100584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dimensions doivent exister avant les lookups de la table de faits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Sinon, les clés substituts (sk_*) ne peuvent pas être retrouvées correctement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table de faits, volontairement, s'exécute en dernier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Contrôles techniques et vérification des chargements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BI — AL OMRANE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10243E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737360"/>
            <a:ext cx="50292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BFE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exec -it alomrane_postgres \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BFE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psql -U amulvaro -d alomrane_dw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BFE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\dt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BFE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COUNT(*) FROM dim_client;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BFE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COUNT(*) FROM dim_agent;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BFE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COUNT(*) FROM dim_projet;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BFE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COUNT(*) FROM dim_bien;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BFE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COUNT(*) FROM dim_temps;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BFE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COUNT(*) FROM fact_ventes;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55080" y="160020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Résultats attendus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355080" y="2057400"/>
            <a:ext cx="2514600" cy="868680"/>
          </a:xfrm>
          <a:prstGeom prst="roundRect">
            <a:avLst>
              <a:gd name="adj" fmla="val 7368"/>
            </a:avLst>
          </a:prstGeom>
          <a:solidFill>
            <a:srgbClr val="F4F8FA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2331720"/>
            <a:ext cx="292608" cy="29260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858000" y="2130552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dim_client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6858000" y="24688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9052560" y="2057400"/>
            <a:ext cx="2514600" cy="868680"/>
          </a:xfrm>
          <a:prstGeom prst="roundRect">
            <a:avLst>
              <a:gd name="adj" fmla="val 7368"/>
            </a:avLst>
          </a:prstGeom>
          <a:solidFill>
            <a:srgbClr val="F4F8FA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0" y="2331720"/>
            <a:ext cx="292608" cy="29260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9555480" y="2130552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dim_agent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9555480" y="24688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6355080" y="3063240"/>
            <a:ext cx="2514600" cy="868680"/>
          </a:xfrm>
          <a:prstGeom prst="roundRect">
            <a:avLst>
              <a:gd name="adj" fmla="val 7368"/>
            </a:avLst>
          </a:prstGeom>
          <a:solidFill>
            <a:srgbClr val="F4F8FA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3337560"/>
            <a:ext cx="292608" cy="29260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858000" y="3136392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dim_projet</a:t>
            </a:r>
            <a:endParaRPr lang="en-US" sz="1150" dirty="0"/>
          </a:p>
        </p:txBody>
      </p:sp>
      <p:sp>
        <p:nvSpPr>
          <p:cNvPr id="20" name="Text 15"/>
          <p:cNvSpPr/>
          <p:nvPr/>
        </p:nvSpPr>
        <p:spPr>
          <a:xfrm>
            <a:off x="6858000" y="3474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9052560" y="3063240"/>
            <a:ext cx="2514600" cy="868680"/>
          </a:xfrm>
          <a:prstGeom prst="roundRect">
            <a:avLst>
              <a:gd name="adj" fmla="val 7368"/>
            </a:avLst>
          </a:prstGeom>
          <a:solidFill>
            <a:srgbClr val="F4F8FA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720" y="3337560"/>
            <a:ext cx="292608" cy="29260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555480" y="3136392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dim_bien</a:t>
            </a:r>
            <a:endParaRPr lang="en-US" sz="1150" dirty="0"/>
          </a:p>
        </p:txBody>
      </p:sp>
      <p:sp>
        <p:nvSpPr>
          <p:cNvPr id="24" name="Text 18"/>
          <p:cNvSpPr/>
          <p:nvPr/>
        </p:nvSpPr>
        <p:spPr>
          <a:xfrm>
            <a:off x="9555480" y="3474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6355080" y="4069080"/>
            <a:ext cx="2514600" cy="868680"/>
          </a:xfrm>
          <a:prstGeom prst="roundRect">
            <a:avLst>
              <a:gd name="adj" fmla="val 7368"/>
            </a:avLst>
          </a:prstGeom>
          <a:solidFill>
            <a:srgbClr val="F4F8FA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4343400"/>
            <a:ext cx="292608" cy="292608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6858000" y="4142232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dim_temps</a:t>
            </a:r>
            <a:endParaRPr lang="en-US" sz="1150" dirty="0"/>
          </a:p>
        </p:txBody>
      </p:sp>
      <p:sp>
        <p:nvSpPr>
          <p:cNvPr id="28" name="Text 21"/>
          <p:cNvSpPr/>
          <p:nvPr/>
        </p:nvSpPr>
        <p:spPr>
          <a:xfrm>
            <a:off x="6858000" y="448056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1826</a:t>
            </a:r>
            <a:endParaRPr lang="en-US" sz="1400" dirty="0"/>
          </a:p>
        </p:txBody>
      </p:sp>
      <p:sp>
        <p:nvSpPr>
          <p:cNvPr id="29" name="Shape 22"/>
          <p:cNvSpPr/>
          <p:nvPr/>
        </p:nvSpPr>
        <p:spPr>
          <a:xfrm>
            <a:off x="9052560" y="4069080"/>
            <a:ext cx="2514600" cy="868680"/>
          </a:xfrm>
          <a:prstGeom prst="roundRect">
            <a:avLst>
              <a:gd name="adj" fmla="val 7368"/>
            </a:avLst>
          </a:prstGeom>
          <a:solidFill>
            <a:srgbClr val="065A82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89720" y="4343400"/>
            <a:ext cx="292608" cy="292608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9555480" y="4142232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fact_ventes</a:t>
            </a:r>
            <a:endParaRPr lang="en-US" sz="1150" dirty="0"/>
          </a:p>
        </p:txBody>
      </p:sp>
      <p:sp>
        <p:nvSpPr>
          <p:cNvPr id="32" name="Text 24"/>
          <p:cNvSpPr/>
          <p:nvPr/>
        </p:nvSpPr>
        <p:spPr>
          <a:xfrm>
            <a:off x="9555480" y="448056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F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1000</a:t>
            </a:r>
            <a:endParaRPr lang="en-US" sz="1400" dirty="0"/>
          </a:p>
        </p:txBody>
      </p:sp>
      <p:sp>
        <p:nvSpPr>
          <p:cNvPr id="33" name="Shape 25"/>
          <p:cNvSpPr/>
          <p:nvPr/>
        </p:nvSpPr>
        <p:spPr>
          <a:xfrm>
            <a:off x="6355080" y="5120640"/>
            <a:ext cx="5303520" cy="960120"/>
          </a:xfrm>
          <a:prstGeom prst="roundRect">
            <a:avLst>
              <a:gd name="adj" fmla="val 6667"/>
            </a:avLst>
          </a:prstGeom>
          <a:solidFill>
            <a:srgbClr val="21295C"/>
          </a:solidFill>
          <a:ln/>
        </p:spPr>
      </p:sp>
      <p:sp>
        <p:nvSpPr>
          <p:cNvPr id="34" name="Text 26"/>
          <p:cNvSpPr/>
          <p:nvPr/>
        </p:nvSpPr>
        <p:spPr>
          <a:xfrm>
            <a:off x="6583680" y="5120640"/>
            <a:ext cx="48463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E5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Cette slide prouve que le DW est effectivement chargé — transition idéale vers la visualisation.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RESTITUTION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Metabase — connexion au Data Warehouse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BI — AL OMRANE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394960" cy="2743200"/>
          </a:xfrm>
          <a:prstGeom prst="roundRect">
            <a:avLst>
              <a:gd name="adj" fmla="val 2667"/>
            </a:avLst>
          </a:prstGeom>
          <a:solidFill>
            <a:srgbClr val="21295C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7830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Connexion PostgreSQL dans Metabase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228600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651760" y="2286000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postgres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2679192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651760" y="2679192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5432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3072384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651760" y="3072384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alomrane_dw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3465576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Username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651760" y="3465576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amulvaro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2960" y="38587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651760" y="3858768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amulvaro123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572000"/>
            <a:ext cx="5394960" cy="1508760"/>
          </a:xfrm>
          <a:prstGeom prst="roundRect">
            <a:avLst>
              <a:gd name="adj" fmla="val 4848"/>
            </a:avLst>
          </a:prstGeom>
          <a:solidFill>
            <a:srgbClr val="FFF3E0"/>
          </a:solidFill>
          <a:ln/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754880"/>
            <a:ext cx="365760" cy="36576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1280160" y="4773168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05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Important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777240" y="516636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3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Metabase tourne dans Docker : il doit utiliser postgres:5432, jamais localhost:5440.</a:t>
            </a:r>
            <a:endParaRPr lang="en-US" sz="120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645920"/>
            <a:ext cx="365760" cy="365760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6812280" y="16916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: </a:t>
            </a:r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http://localhost:3000</a:t>
            </a:r>
            <a:endParaRPr lang="en-US" sz="1350" dirty="0"/>
          </a:p>
        </p:txBody>
      </p:sp>
      <p:sp>
        <p:nvSpPr>
          <p:cNvPr id="24" name="Text 20"/>
          <p:cNvSpPr/>
          <p:nvPr/>
        </p:nvSpPr>
        <p:spPr>
          <a:xfrm>
            <a:off x="6355080" y="228600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Création du dashboard</a:t>
            </a:r>
            <a:endParaRPr lang="en-US" sz="1400" dirty="0"/>
          </a:p>
        </p:txBody>
      </p:sp>
      <p:sp>
        <p:nvSpPr>
          <p:cNvPr id="25" name="Shape 21"/>
          <p:cNvSpPr/>
          <p:nvPr/>
        </p:nvSpPr>
        <p:spPr>
          <a:xfrm>
            <a:off x="6355080" y="2743200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6" name="Text 22"/>
          <p:cNvSpPr/>
          <p:nvPr/>
        </p:nvSpPr>
        <p:spPr>
          <a:xfrm>
            <a:off x="6355080" y="27432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7" name="Text 23"/>
          <p:cNvSpPr/>
          <p:nvPr/>
        </p:nvSpPr>
        <p:spPr>
          <a:xfrm>
            <a:off x="6858000" y="2743200"/>
            <a:ext cx="4754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New → SQL Query (créer une question)</a:t>
            </a:r>
            <a:endParaRPr lang="en-US" sz="1250" dirty="0"/>
          </a:p>
        </p:txBody>
      </p:sp>
      <p:sp>
        <p:nvSpPr>
          <p:cNvPr id="28" name="Shape 24"/>
          <p:cNvSpPr/>
          <p:nvPr/>
        </p:nvSpPr>
        <p:spPr>
          <a:xfrm>
            <a:off x="6355080" y="3310128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9" name="Text 25"/>
          <p:cNvSpPr/>
          <p:nvPr/>
        </p:nvSpPr>
        <p:spPr>
          <a:xfrm>
            <a:off x="6355080" y="331012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30" name="Text 26"/>
          <p:cNvSpPr/>
          <p:nvPr/>
        </p:nvSpPr>
        <p:spPr>
          <a:xfrm>
            <a:off x="6858000" y="3310128"/>
            <a:ext cx="4754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Enregistrer la question</a:t>
            </a:r>
            <a:endParaRPr lang="en-US" sz="1250" dirty="0"/>
          </a:p>
        </p:txBody>
      </p:sp>
      <p:sp>
        <p:nvSpPr>
          <p:cNvPr id="31" name="Shape 27"/>
          <p:cNvSpPr/>
          <p:nvPr/>
        </p:nvSpPr>
        <p:spPr>
          <a:xfrm>
            <a:off x="6355080" y="3877056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2" name="Text 28"/>
          <p:cNvSpPr/>
          <p:nvPr/>
        </p:nvSpPr>
        <p:spPr>
          <a:xfrm>
            <a:off x="6355080" y="387705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33" name="Text 29"/>
          <p:cNvSpPr/>
          <p:nvPr/>
        </p:nvSpPr>
        <p:spPr>
          <a:xfrm>
            <a:off x="6858000" y="3877056"/>
            <a:ext cx="4754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New → Dashboard</a:t>
            </a:r>
            <a:endParaRPr lang="en-US" sz="1250" dirty="0"/>
          </a:p>
        </p:txBody>
      </p:sp>
      <p:sp>
        <p:nvSpPr>
          <p:cNvPr id="34" name="Shape 30"/>
          <p:cNvSpPr/>
          <p:nvPr/>
        </p:nvSpPr>
        <p:spPr>
          <a:xfrm>
            <a:off x="6355080" y="4443984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5" name="Text 31"/>
          <p:cNvSpPr/>
          <p:nvPr/>
        </p:nvSpPr>
        <p:spPr>
          <a:xfrm>
            <a:off x="6355080" y="444398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36" name="Text 32"/>
          <p:cNvSpPr/>
          <p:nvPr/>
        </p:nvSpPr>
        <p:spPr>
          <a:xfrm>
            <a:off x="6858000" y="4443984"/>
            <a:ext cx="4754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Ajouter les questions sauvegardées</a:t>
            </a:r>
            <a:endParaRPr lang="en-US" sz="1250" dirty="0"/>
          </a:p>
        </p:txBody>
      </p:sp>
      <p:sp>
        <p:nvSpPr>
          <p:cNvPr id="37" name="Text 33"/>
          <p:cNvSpPr/>
          <p:nvPr/>
        </p:nvSpPr>
        <p:spPr>
          <a:xfrm>
            <a:off x="6355080" y="5257800"/>
            <a:ext cx="5212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« Question » Metabase correspond à une requête ou une visualisation sauvegardée.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RESTITUTION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 analytiques et visualisations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BI — AL OMRANE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KPIs exécutifs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737360" cy="1143000"/>
          </a:xfrm>
          <a:prstGeom prst="roundRect">
            <a:avLst>
              <a:gd name="adj" fmla="val 6400"/>
            </a:avLst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029968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des ventes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26060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F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423160" y="1920240"/>
            <a:ext cx="1737360" cy="1143000"/>
          </a:xfrm>
          <a:prstGeom prst="roundRect">
            <a:avLst>
              <a:gd name="adj" fmla="val 6400"/>
            </a:avLst>
          </a:prstGeom>
          <a:solidFill>
            <a:srgbClr val="065A82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2029968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 de transactions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514600" y="26060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F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297680" y="1920240"/>
            <a:ext cx="1737360" cy="1143000"/>
          </a:xfrm>
          <a:prstGeom prst="roundRect">
            <a:avLst>
              <a:gd name="adj" fmla="val 6400"/>
            </a:avLst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4389120" y="2029968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Montant moyen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389120" y="26060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F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32918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 d'analyse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657600"/>
            <a:ext cx="2606040" cy="457200"/>
          </a:xfrm>
          <a:prstGeom prst="roundRect">
            <a:avLst>
              <a:gd name="adj" fmla="val 12000"/>
            </a:avLst>
          </a:prstGeom>
          <a:solidFill>
            <a:srgbClr val="F4F8FA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36576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Ventes par agent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240280" y="365760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Chart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337560" y="3657600"/>
            <a:ext cx="2606040" cy="457200"/>
          </a:xfrm>
          <a:prstGeom prst="roundRect">
            <a:avLst>
              <a:gd name="adj" fmla="val 12000"/>
            </a:avLst>
          </a:prstGeom>
          <a:solidFill>
            <a:srgbClr val="F4F8FA"/>
          </a:solidFill>
          <a:ln/>
        </p:spPr>
      </p:sp>
      <p:sp>
        <p:nvSpPr>
          <p:cNvPr id="21" name="Text 19"/>
          <p:cNvSpPr/>
          <p:nvPr/>
        </p:nvSpPr>
        <p:spPr>
          <a:xfrm>
            <a:off x="3447288" y="36576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Ventes par région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029200" y="365760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Chart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48640" y="4224528"/>
            <a:ext cx="2606040" cy="457200"/>
          </a:xfrm>
          <a:prstGeom prst="roundRect">
            <a:avLst>
              <a:gd name="adj" fmla="val 12000"/>
            </a:avLst>
          </a:prstGeom>
          <a:solidFill>
            <a:srgbClr val="F4F8FA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" y="4224528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Ventes par ville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240280" y="422452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Chart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337560" y="4224528"/>
            <a:ext cx="2606040" cy="457200"/>
          </a:xfrm>
          <a:prstGeom prst="roundRect">
            <a:avLst>
              <a:gd name="adj" fmla="val 12000"/>
            </a:avLst>
          </a:prstGeom>
          <a:solidFill>
            <a:srgbClr val="F4F8FA"/>
          </a:solidFill>
          <a:ln/>
        </p:spPr>
      </p:sp>
      <p:sp>
        <p:nvSpPr>
          <p:cNvPr id="27" name="Text 25"/>
          <p:cNvSpPr/>
          <p:nvPr/>
        </p:nvSpPr>
        <p:spPr>
          <a:xfrm>
            <a:off x="3447288" y="4224528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Évolution mensuelle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029200" y="422452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Chart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48640" y="4791456"/>
            <a:ext cx="2606040" cy="457200"/>
          </a:xfrm>
          <a:prstGeom prst="roundRect">
            <a:avLst>
              <a:gd name="adj" fmla="val 12000"/>
            </a:avLst>
          </a:prstGeom>
          <a:solidFill>
            <a:srgbClr val="F4F8FA"/>
          </a:solidFill>
          <a:ln/>
        </p:spPr>
      </p:sp>
      <p:sp>
        <p:nvSpPr>
          <p:cNvPr id="30" name="Text 28"/>
          <p:cNvSpPr/>
          <p:nvPr/>
        </p:nvSpPr>
        <p:spPr>
          <a:xfrm>
            <a:off x="658368" y="4791456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Ventes par type de bien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2240280" y="479145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 / Bar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263640" y="1554480"/>
            <a:ext cx="5349240" cy="2194560"/>
          </a:xfrm>
          <a:prstGeom prst="roundRect">
            <a:avLst>
              <a:gd name="adj" fmla="val 2917"/>
            </a:avLst>
          </a:prstGeom>
          <a:solidFill>
            <a:srgbClr val="10243E"/>
          </a:solidFill>
          <a:ln/>
        </p:spPr>
      </p:sp>
      <p:sp>
        <p:nvSpPr>
          <p:cNvPr id="33" name="Text 31"/>
          <p:cNvSpPr/>
          <p:nvPr/>
        </p:nvSpPr>
        <p:spPr>
          <a:xfrm>
            <a:off x="6492240" y="1691640"/>
            <a:ext cx="48920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BFE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a.nom, a.prenom,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BFE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SUM(f.montant) AS total_ventes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BFE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fact_ventes f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BFE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 dim_agent a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BFE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ON a.sk_agent = f.sk_agent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BFE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 a.nom, a.prenom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BFE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total_ventes DESC;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263640" y="3886200"/>
            <a:ext cx="5349240" cy="2148840"/>
          </a:xfrm>
          <a:prstGeom prst="roundRect">
            <a:avLst>
              <a:gd name="adj" fmla="val 2979"/>
            </a:avLst>
          </a:prstGeom>
          <a:solidFill>
            <a:srgbClr val="10243E"/>
          </a:solidFill>
          <a:ln/>
        </p:spPr>
      </p:sp>
      <p:sp>
        <p:nvSpPr>
          <p:cNvPr id="35" name="Text 33"/>
          <p:cNvSpPr/>
          <p:nvPr/>
        </p:nvSpPr>
        <p:spPr>
          <a:xfrm>
            <a:off x="6492240" y="4023360"/>
            <a:ext cx="489204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BFE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t.annee, t.mois,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BFE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SUM(f.montant) AS total_ventes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BFE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fact_ventes f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BFE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 dim_temps t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BFE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ON t.sk_temps = f.sk_temps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BFE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 t.annee, t.mois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BFE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t.annee, t.mois;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SOUTENANCE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de démonstration en direct (10–12 min)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BI — AL OMRANE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783080" y="1783080"/>
            <a:ext cx="0" cy="4526280"/>
          </a:xfrm>
          <a:prstGeom prst="line">
            <a:avLst/>
          </a:prstGeom>
          <a:noFill/>
          <a:ln w="25400">
            <a:solidFill>
              <a:srgbClr val="C9DC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682496" y="1755648"/>
            <a:ext cx="201168" cy="20116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69164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69164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0–1 min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148840" y="1645920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Annoncer l'objectif, montrer l'architecture globale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1682496" y="2386584"/>
            <a:ext cx="201168" cy="20116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2322576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322576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 min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148840" y="2276856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ps — présenter PostgreSQL, pgAdmin, Metabase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1682496" y="3017520"/>
            <a:ext cx="201168" cy="20116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" y="2953512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2953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2–3 min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148840" y="2907792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source alomrane_source — \dt + COUNT(*)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1682496" y="3648456"/>
            <a:ext cx="201168" cy="20116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0" name="Shape 18"/>
          <p:cNvSpPr/>
          <p:nvPr/>
        </p:nvSpPr>
        <p:spPr>
          <a:xfrm>
            <a:off x="457200" y="3584448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3584448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3–4 min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2148840" y="3538728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Warehouse alomrane_dw — \dt + COUNT(*)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1682496" y="4279392"/>
            <a:ext cx="201168" cy="20116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4" name="Shape 22"/>
          <p:cNvSpPr/>
          <p:nvPr/>
        </p:nvSpPr>
        <p:spPr>
          <a:xfrm>
            <a:off x="457200" y="4215384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4215384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4–6 min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2148840" y="4169664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Hop — pipelines dimensions + load_fact_ventes + workflow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1682496" y="4910328"/>
            <a:ext cx="201168" cy="20116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8" name="Shape 26"/>
          <p:cNvSpPr/>
          <p:nvPr/>
        </p:nvSpPr>
        <p:spPr>
          <a:xfrm>
            <a:off x="457200" y="484632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4632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6–9 min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2148840" y="4800600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Metabase — dashboard et 3 à 4 cartes importantes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1682496" y="5541264"/>
            <a:ext cx="201168" cy="20116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2" name="Shape 30"/>
          <p:cNvSpPr/>
          <p:nvPr/>
        </p:nvSpPr>
        <p:spPr>
          <a:xfrm>
            <a:off x="457200" y="5477256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5477256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9–10 min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2148840" y="5431536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Conclure sur la valeur décisionnelle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103120" y="-2103120"/>
            <a:ext cx="5486400" cy="5486400"/>
          </a:xfrm>
          <a:prstGeom prst="ellipse">
            <a:avLst/>
          </a:prstGeom>
          <a:solidFill>
            <a:srgbClr val="065A82">
              <a:alpha val="2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418320" y="4206240"/>
            <a:ext cx="5029200" cy="5029200"/>
          </a:xfrm>
          <a:prstGeom prst="ellipse">
            <a:avLst/>
          </a:prstGeom>
          <a:solidFill>
            <a:srgbClr val="1C7293">
              <a:alpha val="2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F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7772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 et perspectives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40080" y="1600200"/>
            <a:ext cx="3611880" cy="3611880"/>
          </a:xfrm>
          <a:prstGeom prst="roundRect">
            <a:avLst>
              <a:gd name="adj" fmla="val 2025"/>
            </a:avLst>
          </a:prstGeom>
          <a:solidFill>
            <a:srgbClr val="1A2348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810512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53312" y="1810512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le projet démontre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14400" y="2331720"/>
            <a:ext cx="30632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700"/>
              </a:spcAft>
              <a:buSzPct val="100000"/>
              <a:buChar char="●"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Génération de données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●"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Modélisation relationnelle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●"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Schéma en étoile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●"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avec Apache Hop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●"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Warehouse PostgreSQL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●"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Restitution avec Metabase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434840" y="1600200"/>
            <a:ext cx="3611880" cy="3611880"/>
          </a:xfrm>
          <a:prstGeom prst="roundRect">
            <a:avLst>
              <a:gd name="adj" fmla="val 2025"/>
            </a:avLst>
          </a:prstGeom>
          <a:solidFill>
            <a:srgbClr val="1A2348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810512"/>
            <a:ext cx="365760" cy="3657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148072" y="1810512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Limites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709160" y="2331720"/>
            <a:ext cx="30632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700"/>
              </a:spcAft>
              <a:buSzPct val="100000"/>
              <a:buChar char="●"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simulées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●"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modéré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●"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d'automatisation planifiée (cron/Airflow)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●"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et gouvernance peu traitées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229600" y="1600200"/>
            <a:ext cx="3611880" cy="3611880"/>
          </a:xfrm>
          <a:prstGeom prst="roundRect">
            <a:avLst>
              <a:gd name="adj" fmla="val 2025"/>
            </a:avLst>
          </a:prstGeom>
          <a:solidFill>
            <a:srgbClr val="1A2348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1810512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942832" y="1810512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Perspectives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8503920" y="2331720"/>
            <a:ext cx="30632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700"/>
              </a:spcAft>
              <a:buSzPct val="100000"/>
              <a:buChar char="●"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Automatiser l'exécution périodique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●"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Enrichir les dimensions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●"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Filtres et dashboards avancés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●"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Comparer avec Power BI ou Superset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640080" y="5440680"/>
            <a:ext cx="10927080" cy="868680"/>
          </a:xfrm>
          <a:prstGeom prst="roundRect">
            <a:avLst>
              <a:gd name="adj" fmla="val 8421"/>
            </a:avLst>
          </a:prstGeom>
          <a:solidFill>
            <a:srgbClr val="065A82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5650992"/>
            <a:ext cx="457200" cy="45720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508760" y="5486400"/>
            <a:ext cx="6126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complet : source → ETL → Data Warehouse → Dashboard</a:t>
            </a:r>
            <a:endParaRPr lang="en-US" sz="1300" dirty="0"/>
          </a:p>
        </p:txBody>
      </p:sp>
      <p:sp>
        <p:nvSpPr>
          <p:cNvPr id="21" name="Text 15">
            <a:hlinkClick r:id="rId5" tooltip=""/>
          </p:cNvPr>
          <p:cNvSpPr/>
          <p:nvPr/>
        </p:nvSpPr>
        <p:spPr>
          <a:xfrm>
            <a:off x="7589520" y="5486400"/>
            <a:ext cx="3749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u="sng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github.com/GutzRogue/alomrane-bi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Projet Business Intelligence — AL OMRANE</dc:title>
  <dc:subject>PptxGenJS Presentation</dc:subject>
  <dc:creator>Mr Nourdine</dc:creator>
  <cp:lastModifiedBy>Mr Nourdine</cp:lastModifiedBy>
  <cp:revision>1</cp:revision>
  <dcterms:created xsi:type="dcterms:W3CDTF">2026-06-22T09:05:41Z</dcterms:created>
  <dcterms:modified xsi:type="dcterms:W3CDTF">2026-06-22T09:05:41Z</dcterms:modified>
</cp:coreProperties>
</file>